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8" r:id="rId11"/>
    <p:sldId id="265" r:id="rId12"/>
    <p:sldId id="266" r:id="rId13"/>
    <p:sldId id="267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21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52801" y="3979325"/>
            <a:ext cx="7289165" cy="183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50" b="0" i="0">
                <a:solidFill>
                  <a:srgbClr val="004F8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04D8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0849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04D8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04D8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2605" y="773271"/>
            <a:ext cx="11879580" cy="948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04D8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7379" y="2483951"/>
            <a:ext cx="8664575" cy="2475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0849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ieeexplore.ieee.org/stamp/stamp.jsp%3Ftp%3D%26arnumber%3D726791" TargetMode="External"/><Relationship Id="rId2" Type="http://schemas.openxmlformats.org/officeDocument/2006/relationships/hyperlink" Target="https://www.ni.com/en/solutions/academic-research/case-studies/implementing-an-artificial-neural-network-using-national-instruments-labview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e.columbia.edu/~dpwe/papers/JainDM00-statpr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6844" y="0"/>
            <a:ext cx="20329693" cy="11309350"/>
          </a:xfrm>
          <a:custGeom>
            <a:avLst/>
            <a:gdLst/>
            <a:ahLst/>
            <a:cxnLst/>
            <a:rect l="l" t="t" r="r" b="b"/>
            <a:pathLst>
              <a:path w="20080605" h="1123314">
                <a:moveTo>
                  <a:pt x="20080541" y="1123002"/>
                </a:moveTo>
                <a:lnTo>
                  <a:pt x="0" y="112300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23002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2386" y="2406075"/>
            <a:ext cx="13632180" cy="1439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250" spc="-90" dirty="0" err="1">
                <a:solidFill>
                  <a:srgbClr val="FFFFFF"/>
                </a:solidFill>
              </a:rPr>
              <a:t>Aplica</a:t>
            </a:r>
            <a:r>
              <a:rPr lang="en-US" sz="9250" spc="-90" dirty="0" err="1">
                <a:solidFill>
                  <a:srgbClr val="FFFFFF"/>
                </a:solidFill>
              </a:rPr>
              <a:t>t</a:t>
            </a:r>
            <a:r>
              <a:rPr sz="9250" spc="-90" dirty="0" err="1">
                <a:solidFill>
                  <a:srgbClr val="FFFFFF"/>
                </a:solidFill>
              </a:rPr>
              <a:t>ie</a:t>
            </a:r>
            <a:r>
              <a:rPr sz="9250" spc="-355" dirty="0">
                <a:solidFill>
                  <a:srgbClr val="FFFFFF"/>
                </a:solidFill>
              </a:rPr>
              <a:t> </a:t>
            </a:r>
            <a:r>
              <a:rPr sz="9250" spc="-570" dirty="0">
                <a:solidFill>
                  <a:srgbClr val="FFFFFF"/>
                </a:solidFill>
              </a:rPr>
              <a:t>de</a:t>
            </a:r>
            <a:r>
              <a:rPr sz="9250" spc="-975" dirty="0">
                <a:solidFill>
                  <a:srgbClr val="FFFFFF"/>
                </a:solidFill>
              </a:rPr>
              <a:t> </a:t>
            </a:r>
            <a:r>
              <a:rPr sz="9250" spc="-440" dirty="0" err="1">
                <a:solidFill>
                  <a:srgbClr val="FFFFFF"/>
                </a:solidFill>
              </a:rPr>
              <a:t>Recunoa</a:t>
            </a:r>
            <a:r>
              <a:rPr lang="en-US" sz="9250" spc="-440" dirty="0" err="1">
                <a:solidFill>
                  <a:srgbClr val="FFFFFF"/>
                </a:solidFill>
              </a:rPr>
              <a:t>s</a:t>
            </a:r>
            <a:r>
              <a:rPr sz="9250" spc="-440" dirty="0" err="1">
                <a:solidFill>
                  <a:srgbClr val="FFFFFF"/>
                </a:solidFill>
              </a:rPr>
              <a:t>tere</a:t>
            </a:r>
            <a:r>
              <a:rPr sz="9250" spc="220" dirty="0">
                <a:solidFill>
                  <a:srgbClr val="FFFFFF"/>
                </a:solidFill>
              </a:rPr>
              <a:t> </a:t>
            </a:r>
            <a:r>
              <a:rPr sz="9250" spc="-630" dirty="0">
                <a:solidFill>
                  <a:srgbClr val="FFFFFF"/>
                </a:solidFill>
              </a:rPr>
              <a:t>a</a:t>
            </a:r>
            <a:endParaRPr sz="9250" dirty="0"/>
          </a:p>
        </p:txBody>
      </p:sp>
      <p:sp>
        <p:nvSpPr>
          <p:cNvPr id="4" name="object 4"/>
          <p:cNvSpPr/>
          <p:nvPr/>
        </p:nvSpPr>
        <p:spPr>
          <a:xfrm>
            <a:off x="15706" y="4005114"/>
            <a:ext cx="20080605" cy="1107440"/>
          </a:xfrm>
          <a:custGeom>
            <a:avLst/>
            <a:gdLst/>
            <a:ahLst/>
            <a:cxnLst/>
            <a:rect l="l" t="t" r="r" b="b"/>
            <a:pathLst>
              <a:path w="20080605" h="1107439">
                <a:moveTo>
                  <a:pt x="20080541" y="1107296"/>
                </a:moveTo>
                <a:lnTo>
                  <a:pt x="0" y="110729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07296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06" y="5261620"/>
            <a:ext cx="20080605" cy="1107440"/>
          </a:xfrm>
          <a:custGeom>
            <a:avLst/>
            <a:gdLst/>
            <a:ahLst/>
            <a:cxnLst/>
            <a:rect l="l" t="t" r="r" b="b"/>
            <a:pathLst>
              <a:path w="20080605" h="871854">
                <a:moveTo>
                  <a:pt x="20080541" y="871701"/>
                </a:moveTo>
                <a:lnTo>
                  <a:pt x="0" y="87170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71701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65450" y="3845620"/>
            <a:ext cx="14097000" cy="27321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0660"/>
              </a:lnSpc>
              <a:spcBef>
                <a:spcPts val="105"/>
              </a:spcBef>
            </a:pPr>
            <a:r>
              <a:rPr sz="9400" dirty="0">
                <a:solidFill>
                  <a:srgbClr val="FFFFFF"/>
                </a:solidFill>
                <a:latin typeface="Arial"/>
                <a:cs typeface="Arial"/>
              </a:rPr>
              <a:t>Simbolurilor</a:t>
            </a:r>
            <a:r>
              <a:rPr sz="9400" spc="-3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400" spc="-8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9400" spc="-6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400" dirty="0">
                <a:solidFill>
                  <a:srgbClr val="FFFFFF"/>
                </a:solidFill>
                <a:latin typeface="Arial"/>
                <a:cs typeface="Arial"/>
              </a:rPr>
              <a:t>Grupurilor</a:t>
            </a:r>
            <a:r>
              <a:rPr sz="9400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400" spc="-71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9400" dirty="0">
              <a:latin typeface="Arial"/>
              <a:cs typeface="Arial"/>
            </a:endParaRPr>
          </a:p>
          <a:p>
            <a:pPr marL="2540" algn="ctr">
              <a:lnSpc>
                <a:spcPts val="10480"/>
              </a:lnSpc>
            </a:pPr>
            <a:r>
              <a:rPr sz="9250" spc="-10" dirty="0">
                <a:solidFill>
                  <a:srgbClr val="FFFFFF"/>
                </a:solidFill>
                <a:latin typeface="Arial"/>
                <a:cs typeface="Arial"/>
              </a:rPr>
              <a:t>Simboluri</a:t>
            </a:r>
            <a:endParaRPr sz="925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6816547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06" y="7931695"/>
            <a:ext cx="20170944" cy="862313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89590" y="6702410"/>
            <a:ext cx="8516620" cy="20915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10"/>
              </a:spcBef>
            </a:pPr>
            <a:r>
              <a:rPr sz="2950" spc="-3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950" spc="-5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"/>
                <a:cs typeface="Arial"/>
              </a:rPr>
              <a:t>mplementare</a:t>
            </a:r>
            <a:r>
              <a:rPr sz="2950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"/>
                <a:cs typeface="Arial"/>
              </a:rPr>
              <a:t>cu</a:t>
            </a:r>
            <a:r>
              <a:rPr sz="29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dirty="0" err="1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lang="en-US" sz="2950" dirty="0" err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950" dirty="0" err="1">
                <a:solidFill>
                  <a:srgbClr val="FFFFFF"/>
                </a:solidFill>
                <a:latin typeface="Arial"/>
                <a:cs typeface="Arial"/>
              </a:rPr>
              <a:t>ele</a:t>
            </a:r>
            <a:r>
              <a:rPr sz="295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Arial"/>
                <a:cs typeface="Arial"/>
              </a:rPr>
              <a:t>Neuronale</a:t>
            </a:r>
            <a:endParaRPr sz="2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6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950" spc="50" dirty="0">
                <a:solidFill>
                  <a:srgbClr val="FFFFFF"/>
                </a:solidFill>
                <a:latin typeface="Arial"/>
                <a:cs typeface="Arial"/>
              </a:rPr>
              <a:t>Student:</a:t>
            </a:r>
            <a:r>
              <a:rPr sz="29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FFFFFF"/>
                </a:solidFill>
                <a:latin typeface="Arial"/>
                <a:cs typeface="Arial"/>
              </a:rPr>
              <a:t>Perpelea</a:t>
            </a:r>
            <a:r>
              <a:rPr sz="29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-105" dirty="0">
                <a:solidFill>
                  <a:srgbClr val="FFFFFF"/>
                </a:solidFill>
                <a:latin typeface="Arial"/>
                <a:cs typeface="Arial"/>
              </a:rPr>
              <a:t>George</a:t>
            </a:r>
            <a:r>
              <a:rPr lang="en-US" sz="2950" spc="-10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950" spc="-20" dirty="0">
                <a:solidFill>
                  <a:srgbClr val="FFFFFF"/>
                </a:solidFill>
                <a:latin typeface="Arial"/>
                <a:cs typeface="Arial"/>
              </a:rPr>
              <a:t>Lucian</a:t>
            </a:r>
            <a:endParaRPr lang="en-US" sz="2950" spc="18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950" dirty="0">
                <a:solidFill>
                  <a:srgbClr val="FFFFFF"/>
                </a:solidFill>
                <a:latin typeface="Arial"/>
                <a:cs typeface="Arial"/>
              </a:rPr>
              <a:t>Grupa:</a:t>
            </a:r>
            <a:r>
              <a:rPr sz="29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Arial"/>
                <a:cs typeface="Arial"/>
              </a:rPr>
              <a:t>633AB</a:t>
            </a:r>
            <a:endParaRPr sz="2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89" y="781778"/>
            <a:ext cx="9029700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spc="-300" dirty="0">
                <a:solidFill>
                  <a:srgbClr val="014F82"/>
                </a:solidFill>
              </a:rPr>
              <a:t>1.</a:t>
            </a:r>
            <a:r>
              <a:rPr sz="5900" spc="-835" dirty="0">
                <a:solidFill>
                  <a:srgbClr val="014F82"/>
                </a:solidFill>
              </a:rPr>
              <a:t> </a:t>
            </a:r>
            <a:r>
              <a:rPr sz="5900" spc="-265" dirty="0">
                <a:solidFill>
                  <a:srgbClr val="005087"/>
                </a:solidFill>
              </a:rPr>
              <a:t>Descrierea</a:t>
            </a:r>
            <a:r>
              <a:rPr sz="5900" spc="-330" dirty="0">
                <a:solidFill>
                  <a:srgbClr val="005087"/>
                </a:solidFill>
              </a:rPr>
              <a:t> </a:t>
            </a:r>
            <a:r>
              <a:rPr sz="5900" spc="-114" dirty="0">
                <a:solidFill>
                  <a:srgbClr val="00508E"/>
                </a:solidFill>
              </a:rPr>
              <a:t>Nevoii:</a:t>
            </a:r>
            <a:r>
              <a:rPr sz="5900" spc="-459" dirty="0">
                <a:solidFill>
                  <a:srgbClr val="00508E"/>
                </a:solidFill>
              </a:rPr>
              <a:t> </a:t>
            </a:r>
            <a:r>
              <a:rPr sz="5900" spc="-145" dirty="0">
                <a:solidFill>
                  <a:srgbClr val="054D7E"/>
                </a:solidFill>
              </a:rPr>
              <a:t>Obiectiv</a:t>
            </a:r>
            <a:endParaRPr sz="59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7379" y="2483951"/>
            <a:ext cx="8664575" cy="2446567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1590" marR="1910080" indent="-9525">
              <a:lnSpc>
                <a:spcPts val="5010"/>
              </a:lnSpc>
              <a:spcBef>
                <a:spcPts val="855"/>
              </a:spcBef>
            </a:pPr>
            <a:r>
              <a:rPr spc="-190" dirty="0">
                <a:solidFill>
                  <a:srgbClr val="055282"/>
                </a:solidFill>
              </a:rPr>
              <a:t>Context:</a:t>
            </a:r>
            <a:r>
              <a:rPr spc="-195" dirty="0">
                <a:solidFill>
                  <a:srgbClr val="055282"/>
                </a:solidFill>
              </a:rPr>
              <a:t> </a:t>
            </a:r>
            <a:r>
              <a:rPr spc="-95" dirty="0" err="1">
                <a:solidFill>
                  <a:srgbClr val="035489"/>
                </a:solidFill>
              </a:rPr>
              <a:t>Viziune</a:t>
            </a:r>
            <a:r>
              <a:rPr spc="-175" dirty="0">
                <a:solidFill>
                  <a:srgbClr val="035489"/>
                </a:solidFill>
              </a:rPr>
              <a:t> </a:t>
            </a:r>
            <a:r>
              <a:rPr spc="-10" dirty="0" err="1"/>
              <a:t>Artificial</a:t>
            </a:r>
            <a:r>
              <a:rPr lang="en-US" spc="-10" dirty="0" err="1"/>
              <a:t>a</a:t>
            </a:r>
            <a:r>
              <a:rPr spc="-10" dirty="0"/>
              <a:t> </a:t>
            </a:r>
            <a:r>
              <a:rPr spc="-305" dirty="0">
                <a:solidFill>
                  <a:srgbClr val="004B80"/>
                </a:solidFill>
              </a:rPr>
              <a:t>(Computer</a:t>
            </a:r>
            <a:r>
              <a:rPr spc="300" dirty="0">
                <a:solidFill>
                  <a:srgbClr val="004B80"/>
                </a:solidFill>
              </a:rPr>
              <a:t> </a:t>
            </a:r>
            <a:r>
              <a:rPr spc="-10" dirty="0">
                <a:solidFill>
                  <a:srgbClr val="004F90"/>
                </a:solidFill>
              </a:rPr>
              <a:t>Vision)</a:t>
            </a:r>
          </a:p>
          <a:p>
            <a:pPr marL="39370" marR="5080" indent="-13335">
              <a:lnSpc>
                <a:spcPct val="113599"/>
              </a:lnSpc>
              <a:spcBef>
                <a:spcPts val="1840"/>
              </a:spcBef>
            </a:pPr>
            <a:r>
              <a:rPr lang="en-US" sz="2300" spc="-10" dirty="0" err="1">
                <a:solidFill>
                  <a:srgbClr val="151515"/>
                </a:solidFill>
              </a:rPr>
              <a:t>Proiectul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vizeaza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creare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unui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sistem</a:t>
            </a:r>
            <a:r>
              <a:rPr lang="en-US" sz="2300" spc="-10" dirty="0">
                <a:solidFill>
                  <a:srgbClr val="151515"/>
                </a:solidFill>
              </a:rPr>
              <a:t> robust </a:t>
            </a:r>
            <a:r>
              <a:rPr lang="en-US" sz="2300" spc="-10" dirty="0" err="1">
                <a:solidFill>
                  <a:srgbClr val="151515"/>
                </a:solidFill>
              </a:rPr>
              <a:t>pentru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recunoasterea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autoamta</a:t>
            </a:r>
            <a:r>
              <a:rPr lang="en-US" sz="2300" spc="-10" dirty="0">
                <a:solidFill>
                  <a:srgbClr val="151515"/>
                </a:solidFill>
              </a:rPr>
              <a:t> a pattern-</a:t>
            </a:r>
            <a:r>
              <a:rPr lang="en-US" sz="2300" spc="-10" dirty="0" err="1">
                <a:solidFill>
                  <a:srgbClr val="151515"/>
                </a:solidFill>
              </a:rPr>
              <a:t>urilor</a:t>
            </a:r>
            <a:r>
              <a:rPr lang="en-US" sz="2300" spc="-10" dirty="0">
                <a:solidFill>
                  <a:srgbClr val="151515"/>
                </a:solidFill>
              </a:rPr>
              <a:t> </a:t>
            </a:r>
            <a:r>
              <a:rPr lang="en-US" sz="2300" spc="-10" dirty="0" err="1">
                <a:solidFill>
                  <a:srgbClr val="151515"/>
                </a:solidFill>
              </a:rPr>
              <a:t>vizuale</a:t>
            </a:r>
            <a:r>
              <a:rPr lang="en-US" sz="2300" spc="-10" dirty="0">
                <a:solidFill>
                  <a:srgbClr val="151515"/>
                </a:solidFill>
              </a:rPr>
              <a:t>.</a:t>
            </a:r>
            <a:endParaRPr sz="2300" dirty="0"/>
          </a:p>
        </p:txBody>
      </p:sp>
      <p:sp>
        <p:nvSpPr>
          <p:cNvPr id="4" name="object 4"/>
          <p:cNvSpPr txBox="1"/>
          <p:nvPr/>
        </p:nvSpPr>
        <p:spPr>
          <a:xfrm>
            <a:off x="916912" y="5453102"/>
            <a:ext cx="8638540" cy="3071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00" spc="-114" dirty="0">
                <a:solidFill>
                  <a:srgbClr val="01548C"/>
                </a:solidFill>
                <a:latin typeface="Arial"/>
                <a:cs typeface="Arial"/>
              </a:rPr>
              <a:t>Obiectiv</a:t>
            </a:r>
            <a:r>
              <a:rPr sz="4600" spc="-200" dirty="0">
                <a:solidFill>
                  <a:srgbClr val="01548C"/>
                </a:solidFill>
                <a:latin typeface="Arial"/>
                <a:cs typeface="Arial"/>
              </a:rPr>
              <a:t> </a:t>
            </a:r>
            <a:r>
              <a:rPr sz="4600" spc="-10" dirty="0">
                <a:solidFill>
                  <a:srgbClr val="08527E"/>
                </a:solidFill>
                <a:latin typeface="Arial"/>
                <a:cs typeface="Arial"/>
              </a:rPr>
              <a:t>Principal:</a:t>
            </a:r>
            <a:endParaRPr sz="4600" dirty="0">
              <a:latin typeface="Arial"/>
              <a:cs typeface="Arial"/>
            </a:endParaRPr>
          </a:p>
          <a:p>
            <a:pPr marL="426084" indent="-321945">
              <a:lnSpc>
                <a:spcPct val="100000"/>
              </a:lnSpc>
              <a:spcBef>
                <a:spcPts val="2200"/>
              </a:spcBef>
              <a:buClr>
                <a:srgbClr val="1F1F1F"/>
              </a:buClr>
              <a:buChar char="•"/>
              <a:tabLst>
                <a:tab pos="426084" algn="l"/>
                <a:tab pos="426720" algn="l"/>
              </a:tabLst>
            </a:pPr>
            <a:r>
              <a:rPr lang="en-US" sz="2300" b="1" spc="125" dirty="0" err="1">
                <a:solidFill>
                  <a:srgbClr val="1C1C1C"/>
                </a:solidFill>
                <a:latin typeface="Arial"/>
                <a:cs typeface="Arial"/>
              </a:rPr>
              <a:t>Captarea</a:t>
            </a:r>
            <a:r>
              <a:rPr lang="en-US" sz="2300" b="1" spc="1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lang="en-US" sz="2300" b="1" spc="125" dirty="0" err="1">
                <a:solidFill>
                  <a:srgbClr val="1C1C1C"/>
                </a:solidFill>
                <a:latin typeface="Arial"/>
                <a:cs typeface="Arial"/>
              </a:rPr>
              <a:t>datelor</a:t>
            </a:r>
            <a:r>
              <a:rPr lang="en-US" sz="2300" b="1" spc="125" dirty="0">
                <a:solidFill>
                  <a:srgbClr val="1C1C1C"/>
                </a:solidFill>
                <a:latin typeface="Arial"/>
                <a:cs typeface="Arial"/>
              </a:rPr>
              <a:t> de </a:t>
            </a:r>
            <a:r>
              <a:rPr lang="en-US" sz="2300" b="1" spc="125" dirty="0" err="1">
                <a:solidFill>
                  <a:srgbClr val="1C1C1C"/>
                </a:solidFill>
                <a:latin typeface="Arial"/>
                <a:cs typeface="Arial"/>
              </a:rPr>
              <a:t>intrare</a:t>
            </a:r>
            <a:r>
              <a:rPr lang="en-US" sz="2300" b="1" spc="1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de la </a:t>
            </a:r>
            <a:r>
              <a:rPr lang="en-US" sz="2300" spc="125" dirty="0" err="1">
                <a:solidFill>
                  <a:srgbClr val="1C1C1C"/>
                </a:solidFill>
                <a:latin typeface="Arial"/>
                <a:cs typeface="Arial"/>
              </a:rPr>
              <a:t>utilizator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lang="en-US" sz="2300" spc="125" dirty="0" err="1">
                <a:solidFill>
                  <a:srgbClr val="1C1C1C"/>
                </a:solidFill>
                <a:latin typeface="Arial"/>
                <a:cs typeface="Arial"/>
              </a:rPr>
              <a:t>prin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lang="en-US" sz="2300" spc="125" dirty="0" err="1">
                <a:solidFill>
                  <a:srgbClr val="1C1C1C"/>
                </a:solidFill>
                <a:latin typeface="Arial"/>
                <a:cs typeface="Arial"/>
              </a:rPr>
              <a:t>desenararea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 pe o </a:t>
            </a:r>
            <a:r>
              <a:rPr lang="en-US" sz="2300" spc="125" dirty="0" err="1">
                <a:solidFill>
                  <a:srgbClr val="1C1C1C"/>
                </a:solidFill>
                <a:latin typeface="Arial"/>
                <a:cs typeface="Arial"/>
              </a:rPr>
              <a:t>matrice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lang="en-US" sz="2300" spc="125" dirty="0" err="1">
                <a:solidFill>
                  <a:srgbClr val="1C1C1C"/>
                </a:solidFill>
                <a:latin typeface="Arial"/>
                <a:cs typeface="Arial"/>
              </a:rPr>
              <a:t>binara</a:t>
            </a:r>
            <a:r>
              <a:rPr lang="en-US" sz="2300" spc="125" dirty="0">
                <a:solidFill>
                  <a:srgbClr val="1C1C1C"/>
                </a:solidFill>
                <a:latin typeface="Arial"/>
                <a:cs typeface="Arial"/>
              </a:rPr>
              <a:t> de 9x28.</a:t>
            </a:r>
            <a:endParaRPr sz="2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300" dirty="0">
              <a:latin typeface="Arial"/>
              <a:cs typeface="Arial"/>
            </a:endParaRPr>
          </a:p>
          <a:p>
            <a:pPr marL="410845" indent="-307975">
              <a:lnSpc>
                <a:spcPct val="100000"/>
              </a:lnSpc>
              <a:spcBef>
                <a:spcPts val="5"/>
              </a:spcBef>
              <a:buChar char="•"/>
              <a:tabLst>
                <a:tab pos="410845" algn="l"/>
                <a:tab pos="411480" algn="l"/>
              </a:tabLst>
            </a:pPr>
            <a:r>
              <a:rPr lang="en-US" sz="2300" b="1" dirty="0" err="1">
                <a:solidFill>
                  <a:srgbClr val="1F1F1F"/>
                </a:solidFill>
                <a:latin typeface="Arial"/>
                <a:cs typeface="Arial"/>
              </a:rPr>
              <a:t>Conversie</a:t>
            </a:r>
            <a:r>
              <a:rPr lang="en-US" sz="2300" dirty="0">
                <a:solidFill>
                  <a:srgbClr val="1F1F1F"/>
                </a:solidFill>
                <a:latin typeface="Arial"/>
                <a:cs typeface="Arial"/>
              </a:rPr>
              <a:t> in 1D array.</a:t>
            </a:r>
            <a:endParaRPr sz="2300" dirty="0">
              <a:latin typeface="Arial"/>
              <a:cs typeface="Arial"/>
            </a:endParaRPr>
          </a:p>
          <a:p>
            <a:pPr marL="410209" indent="-307975">
              <a:lnSpc>
                <a:spcPct val="100000"/>
              </a:lnSpc>
              <a:spcBef>
                <a:spcPts val="2280"/>
              </a:spcBef>
              <a:buClr>
                <a:srgbClr val="242424"/>
              </a:buClr>
              <a:buChar char="•"/>
              <a:tabLst>
                <a:tab pos="410209" algn="l"/>
                <a:tab pos="410845" algn="l"/>
              </a:tabLst>
            </a:pPr>
            <a:r>
              <a:rPr lang="en-US" sz="2300" b="1" spc="-10" dirty="0" err="1">
                <a:solidFill>
                  <a:srgbClr val="181818"/>
                </a:solidFill>
                <a:latin typeface="Arial"/>
                <a:cs typeface="Arial"/>
              </a:rPr>
              <a:t>Clasificare</a:t>
            </a:r>
            <a:r>
              <a:rPr lang="en-US" sz="2300" b="1" spc="-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lang="en-US" sz="2300" b="1" spc="-10" dirty="0" err="1">
                <a:solidFill>
                  <a:srgbClr val="181818"/>
                </a:solidFill>
                <a:latin typeface="Arial"/>
                <a:cs typeface="Arial"/>
              </a:rPr>
              <a:t>corecta</a:t>
            </a:r>
            <a:r>
              <a:rPr lang="en-US" sz="2300" spc="-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folosind</a:t>
            </a:r>
            <a:r>
              <a:rPr lang="en-US" sz="2300" spc="-10" dirty="0">
                <a:solidFill>
                  <a:srgbClr val="181818"/>
                </a:solidFill>
                <a:latin typeface="Arial"/>
                <a:cs typeface="Arial"/>
              </a:rPr>
              <a:t> o 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Retea</a:t>
            </a:r>
            <a:r>
              <a:rPr lang="en-US" sz="2300" spc="-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Neuronala</a:t>
            </a:r>
            <a:r>
              <a:rPr lang="en-US" sz="2300" spc="-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antrenata</a:t>
            </a:r>
            <a:r>
              <a:rPr sz="2300" spc="-10" dirty="0">
                <a:solidFill>
                  <a:srgbClr val="0F0F0F"/>
                </a:solidFill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6" name="Imagine 5" descr="O imagine care conține text, captură de ecran, Font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F50A5C35-14AF-8442-8236-1BAB832DB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172" y="973805"/>
            <a:ext cx="9013391" cy="9176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50" spc="-290" dirty="0">
                <a:solidFill>
                  <a:srgbClr val="005087"/>
                </a:solidFill>
              </a:rPr>
              <a:t>2.</a:t>
            </a:r>
            <a:r>
              <a:rPr sz="6050" spc="-930" dirty="0">
                <a:solidFill>
                  <a:srgbClr val="005087"/>
                </a:solidFill>
              </a:rPr>
              <a:t> </a:t>
            </a:r>
            <a:r>
              <a:rPr sz="6050" spc="-140" dirty="0">
                <a:solidFill>
                  <a:srgbClr val="014F85"/>
                </a:solidFill>
              </a:rPr>
              <a:t>Domeniul</a:t>
            </a:r>
            <a:r>
              <a:rPr sz="6050" spc="-675" dirty="0">
                <a:solidFill>
                  <a:srgbClr val="014F85"/>
                </a:solidFill>
              </a:rPr>
              <a:t> </a:t>
            </a:r>
            <a:r>
              <a:rPr sz="6050" dirty="0">
                <a:solidFill>
                  <a:srgbClr val="004F87"/>
                </a:solidFill>
              </a:rPr>
              <a:t>Industrial</a:t>
            </a:r>
            <a:r>
              <a:rPr sz="6050" spc="-535" dirty="0">
                <a:solidFill>
                  <a:srgbClr val="004F87"/>
                </a:solidFill>
              </a:rPr>
              <a:t> </a:t>
            </a:r>
            <a:r>
              <a:rPr sz="6050" spc="-475" dirty="0">
                <a:solidFill>
                  <a:srgbClr val="00508A"/>
                </a:solidFill>
              </a:rPr>
              <a:t>de</a:t>
            </a:r>
            <a:r>
              <a:rPr sz="6050" spc="-805" dirty="0">
                <a:solidFill>
                  <a:srgbClr val="00508A"/>
                </a:solidFill>
              </a:rPr>
              <a:t> </a:t>
            </a:r>
            <a:r>
              <a:rPr sz="6050" spc="-185" dirty="0">
                <a:solidFill>
                  <a:srgbClr val="004F87"/>
                </a:solidFill>
              </a:rPr>
              <a:t>Interes</a:t>
            </a:r>
            <a:r>
              <a:rPr sz="6050" spc="-125" dirty="0">
                <a:solidFill>
                  <a:srgbClr val="004F87"/>
                </a:solidFill>
              </a:rPr>
              <a:t> </a:t>
            </a:r>
            <a:r>
              <a:rPr sz="6050" spc="-35" dirty="0">
                <a:solidFill>
                  <a:srgbClr val="015790"/>
                </a:solidFill>
              </a:rPr>
              <a:t>(DII)</a:t>
            </a:r>
            <a:endParaRPr sz="6050"/>
          </a:p>
        </p:txBody>
      </p:sp>
      <p:sp>
        <p:nvSpPr>
          <p:cNvPr id="4" name="object 4"/>
          <p:cNvSpPr txBox="1"/>
          <p:nvPr/>
        </p:nvSpPr>
        <p:spPr>
          <a:xfrm>
            <a:off x="10356851" y="2835275"/>
            <a:ext cx="8197552" cy="1392048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423545">
              <a:lnSpc>
                <a:spcPts val="5010"/>
              </a:lnSpc>
              <a:spcBef>
                <a:spcPts val="855"/>
              </a:spcBef>
            </a:pPr>
            <a:r>
              <a:rPr sz="4750" spc="-140" dirty="0">
                <a:solidFill>
                  <a:srgbClr val="014F82"/>
                </a:solidFill>
                <a:latin typeface="Arial"/>
                <a:cs typeface="Arial"/>
              </a:rPr>
              <a:t>Domeniu:</a:t>
            </a:r>
            <a:r>
              <a:rPr sz="4750" spc="-250" dirty="0">
                <a:solidFill>
                  <a:srgbClr val="014F82"/>
                </a:solidFill>
                <a:latin typeface="Arial"/>
                <a:cs typeface="Arial"/>
              </a:rPr>
              <a:t> </a:t>
            </a:r>
            <a:r>
              <a:rPr sz="4750" spc="-75" dirty="0" err="1">
                <a:solidFill>
                  <a:srgbClr val="004B87"/>
                </a:solidFill>
                <a:latin typeface="Arial"/>
                <a:cs typeface="Arial"/>
              </a:rPr>
              <a:t>Controlul</a:t>
            </a:r>
            <a:r>
              <a:rPr sz="4750" spc="-450" dirty="0">
                <a:solidFill>
                  <a:srgbClr val="004B87"/>
                </a:solidFill>
                <a:latin typeface="Arial"/>
                <a:cs typeface="Arial"/>
              </a:rPr>
              <a:t> </a:t>
            </a:r>
            <a:r>
              <a:rPr sz="4750" dirty="0" err="1">
                <a:solidFill>
                  <a:srgbClr val="004B80"/>
                </a:solidFill>
                <a:latin typeface="Arial"/>
                <a:cs typeface="Arial"/>
              </a:rPr>
              <a:t>Calit</a:t>
            </a:r>
            <a:r>
              <a:rPr lang="en-US" sz="4750" dirty="0" err="1">
                <a:solidFill>
                  <a:srgbClr val="004B80"/>
                </a:solidFill>
                <a:latin typeface="Arial"/>
                <a:cs typeface="Arial"/>
              </a:rPr>
              <a:t>at</a:t>
            </a:r>
            <a:r>
              <a:rPr sz="4750" dirty="0" err="1">
                <a:solidFill>
                  <a:srgbClr val="004B80"/>
                </a:solidFill>
                <a:latin typeface="Arial"/>
                <a:cs typeface="Arial"/>
              </a:rPr>
              <a:t>ii</a:t>
            </a:r>
            <a:r>
              <a:rPr sz="4750" spc="-270" dirty="0">
                <a:solidFill>
                  <a:srgbClr val="004B80"/>
                </a:solidFill>
                <a:latin typeface="Arial"/>
                <a:cs typeface="Arial"/>
              </a:rPr>
              <a:t> </a:t>
            </a:r>
            <a:r>
              <a:rPr lang="en-US" sz="4750" spc="150" dirty="0">
                <a:solidFill>
                  <a:srgbClr val="004F90"/>
                </a:solidFill>
                <a:latin typeface="Arial"/>
                <a:cs typeface="Arial"/>
              </a:rPr>
              <a:t>i</a:t>
            </a:r>
            <a:r>
              <a:rPr sz="4750" spc="150" dirty="0">
                <a:solidFill>
                  <a:srgbClr val="004F90"/>
                </a:solidFill>
                <a:latin typeface="Arial"/>
                <a:cs typeface="Arial"/>
              </a:rPr>
              <a:t>n </a:t>
            </a:r>
            <a:r>
              <a:rPr sz="4750" spc="-30" dirty="0" err="1">
                <a:solidFill>
                  <a:srgbClr val="004980"/>
                </a:solidFill>
                <a:latin typeface="Arial"/>
                <a:cs typeface="Arial"/>
              </a:rPr>
              <a:t>Produc</a:t>
            </a:r>
            <a:r>
              <a:rPr lang="en-US" sz="4750" spc="-30" dirty="0" err="1">
                <a:solidFill>
                  <a:srgbClr val="004980"/>
                </a:solidFill>
                <a:latin typeface="Arial"/>
                <a:cs typeface="Arial"/>
              </a:rPr>
              <a:t>t</a:t>
            </a:r>
            <a:r>
              <a:rPr sz="4750" spc="-30" dirty="0" err="1">
                <a:solidFill>
                  <a:srgbClr val="004980"/>
                </a:solidFill>
                <a:latin typeface="Arial"/>
                <a:cs typeface="Arial"/>
              </a:rPr>
              <a:t>ie</a:t>
            </a:r>
            <a:endParaRPr sz="47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6851" y="4180031"/>
            <a:ext cx="8579022" cy="16981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21000"/>
              </a:lnSpc>
              <a:spcBef>
                <a:spcPts val="95"/>
              </a:spcBef>
            </a:pPr>
            <a:endParaRPr lang="en-US" sz="2300" dirty="0">
              <a:latin typeface="Arial"/>
              <a:cs typeface="Arial"/>
            </a:endParaRPr>
          </a:p>
          <a:p>
            <a:pPr marL="13335" marR="5080" indent="-1270">
              <a:lnSpc>
                <a:spcPct val="121000"/>
              </a:lnSpc>
              <a:spcBef>
                <a:spcPts val="95"/>
              </a:spcBef>
            </a:pPr>
            <a:r>
              <a:rPr lang="en-US" sz="2300" dirty="0">
                <a:latin typeface="Arial"/>
                <a:cs typeface="Arial"/>
              </a:rPr>
              <a:t>Aplicatia se </a:t>
            </a:r>
            <a:r>
              <a:rPr lang="en-US" sz="2300" dirty="0" err="1">
                <a:latin typeface="Arial"/>
                <a:cs typeface="Arial"/>
              </a:rPr>
              <a:t>incadreaza</a:t>
            </a:r>
            <a:r>
              <a:rPr lang="en-US" sz="2300" dirty="0">
                <a:latin typeface="Arial"/>
                <a:cs typeface="Arial"/>
              </a:rPr>
              <a:t> in </a:t>
            </a:r>
            <a:r>
              <a:rPr lang="en-US" sz="2300" dirty="0" err="1">
                <a:latin typeface="Arial"/>
                <a:cs typeface="Arial"/>
              </a:rPr>
              <a:t>monitorizarea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proceselor</a:t>
            </a:r>
            <a:r>
              <a:rPr lang="en-US" sz="2300" dirty="0">
                <a:latin typeface="Arial"/>
                <a:cs typeface="Arial"/>
              </a:rPr>
              <a:t>, specific in </a:t>
            </a:r>
            <a:r>
              <a:rPr lang="en-US" sz="2300" dirty="0" err="1">
                <a:latin typeface="Arial"/>
                <a:cs typeface="Arial"/>
              </a:rPr>
              <a:t>inspectia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vizuala</a:t>
            </a:r>
            <a:r>
              <a:rPr lang="en-US" sz="2300" dirty="0">
                <a:latin typeface="Arial"/>
                <a:cs typeface="Arial"/>
              </a:rPr>
              <a:t> automata a </a:t>
            </a:r>
            <a:r>
              <a:rPr lang="en-US" sz="2300" dirty="0" err="1">
                <a:latin typeface="Arial"/>
                <a:cs typeface="Arial"/>
              </a:rPr>
              <a:t>etichetelor</a:t>
            </a:r>
            <a:r>
              <a:rPr lang="en-US" sz="2300" dirty="0">
                <a:latin typeface="Arial"/>
                <a:cs typeface="Arial"/>
              </a:rPr>
              <a:t>, </a:t>
            </a:r>
            <a:r>
              <a:rPr lang="en-US" sz="2300" dirty="0" err="1">
                <a:latin typeface="Arial"/>
                <a:cs typeface="Arial"/>
              </a:rPr>
              <a:t>codurilor</a:t>
            </a:r>
            <a:r>
              <a:rPr lang="en-US" sz="2300" dirty="0">
                <a:latin typeface="Arial"/>
                <a:cs typeface="Arial"/>
              </a:rPr>
              <a:t>, </a:t>
            </a:r>
            <a:r>
              <a:rPr lang="en-US" sz="2300" dirty="0" err="1">
                <a:latin typeface="Arial"/>
                <a:cs typeface="Arial"/>
              </a:rPr>
              <a:t>marcajelor</a:t>
            </a:r>
            <a:r>
              <a:rPr lang="en-US" sz="2300" dirty="0">
                <a:latin typeface="Arial"/>
                <a:cs typeface="Arial"/>
              </a:rPr>
              <a:t> de lot </a:t>
            </a:r>
            <a:r>
              <a:rPr lang="en-US" sz="2300" dirty="0" err="1">
                <a:latin typeface="Arial"/>
                <a:cs typeface="Arial"/>
              </a:rPr>
              <a:t>sau</a:t>
            </a:r>
            <a:r>
              <a:rPr lang="en-US" sz="2300" dirty="0">
                <a:latin typeface="Arial"/>
                <a:cs typeface="Arial"/>
              </a:rPr>
              <a:t> a </a:t>
            </a:r>
            <a:r>
              <a:rPr lang="en-US" sz="2300" dirty="0" err="1">
                <a:latin typeface="Arial"/>
                <a:cs typeface="Arial"/>
              </a:rPr>
              <a:t>simbolurilor</a:t>
            </a:r>
            <a:r>
              <a:rPr lang="en-US" sz="2300" dirty="0">
                <a:latin typeface="Arial"/>
                <a:cs typeface="Arial"/>
              </a:rPr>
              <a:t> de pe </a:t>
            </a:r>
            <a:r>
              <a:rPr lang="en-US" sz="2300" dirty="0" err="1">
                <a:latin typeface="Arial"/>
                <a:cs typeface="Arial"/>
              </a:rPr>
              <a:t>panouri</a:t>
            </a:r>
            <a:r>
              <a:rPr lang="en-US" sz="2300" dirty="0">
                <a:latin typeface="Arial"/>
                <a:cs typeface="Arial"/>
              </a:rPr>
              <a:t> HMI ( </a:t>
            </a:r>
            <a:r>
              <a:rPr lang="en-US" sz="2300" dirty="0" err="1">
                <a:latin typeface="Arial"/>
                <a:cs typeface="Arial"/>
              </a:rPr>
              <a:t>Interfata</a:t>
            </a:r>
            <a:r>
              <a:rPr lang="en-US" sz="2300" dirty="0">
                <a:latin typeface="Arial"/>
                <a:cs typeface="Arial"/>
              </a:rPr>
              <a:t> Om-Masina )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56851" y="6645276"/>
            <a:ext cx="8354042" cy="74571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14"/>
              </a:spcBef>
            </a:pPr>
            <a:r>
              <a:rPr sz="4750" spc="-125" dirty="0">
                <a:solidFill>
                  <a:srgbClr val="005490"/>
                </a:solidFill>
                <a:latin typeface="Arial"/>
                <a:cs typeface="Arial"/>
              </a:rPr>
              <a:t>Studiu</a:t>
            </a:r>
            <a:r>
              <a:rPr sz="4750" spc="-220" dirty="0">
                <a:solidFill>
                  <a:srgbClr val="005490"/>
                </a:solidFill>
                <a:latin typeface="Arial"/>
                <a:cs typeface="Arial"/>
              </a:rPr>
              <a:t> </a:t>
            </a:r>
            <a:r>
              <a:rPr sz="4750" spc="-350" dirty="0">
                <a:solidFill>
                  <a:srgbClr val="165682"/>
                </a:solidFill>
                <a:latin typeface="Arial"/>
                <a:cs typeface="Arial"/>
              </a:rPr>
              <a:t>de</a:t>
            </a:r>
            <a:r>
              <a:rPr sz="4750" spc="-480" dirty="0">
                <a:solidFill>
                  <a:srgbClr val="165682"/>
                </a:solidFill>
                <a:latin typeface="Arial"/>
                <a:cs typeface="Arial"/>
              </a:rPr>
              <a:t> </a:t>
            </a:r>
            <a:r>
              <a:rPr sz="4750" spc="-390" dirty="0">
                <a:solidFill>
                  <a:srgbClr val="005290"/>
                </a:solidFill>
                <a:latin typeface="Arial"/>
                <a:cs typeface="Arial"/>
              </a:rPr>
              <a:t>Caz:</a:t>
            </a:r>
            <a:endParaRPr lang="en-US" sz="4750" spc="-390" dirty="0">
              <a:solidFill>
                <a:srgbClr val="005290"/>
              </a:solidFill>
              <a:latin typeface="Arial"/>
              <a:cs typeface="Arial"/>
            </a:endParaRP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C75BF94A-E671-B5E0-3BC6-91B89ABE6CB0}"/>
              </a:ext>
            </a:extLst>
          </p:cNvPr>
          <p:cNvSpPr txBox="1"/>
          <p:nvPr/>
        </p:nvSpPr>
        <p:spPr>
          <a:xfrm>
            <a:off x="10356852" y="7788275"/>
            <a:ext cx="835404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/>
              <a:t>Validarea</a:t>
            </a:r>
            <a:r>
              <a:rPr lang="en-US" sz="2300" dirty="0"/>
              <a:t> automata a </a:t>
            </a:r>
            <a:r>
              <a:rPr lang="en-US" sz="2300" dirty="0" err="1"/>
              <a:t>marcajelor</a:t>
            </a:r>
            <a:r>
              <a:rPr lang="en-US" sz="2300" dirty="0"/>
              <a:t> de pe un </a:t>
            </a:r>
            <a:r>
              <a:rPr lang="en-US" sz="2300" dirty="0" err="1"/>
              <a:t>produs</a:t>
            </a:r>
            <a:r>
              <a:rPr lang="en-US" sz="2300" dirty="0"/>
              <a:t> ( </a:t>
            </a:r>
            <a:r>
              <a:rPr lang="en-US" sz="2300" dirty="0" err="1"/>
              <a:t>preluat</a:t>
            </a:r>
            <a:r>
              <a:rPr lang="en-US" sz="2300" dirty="0"/>
              <a:t> de o camera </a:t>
            </a:r>
            <a:r>
              <a:rPr lang="en-US" sz="2300" dirty="0" err="1"/>
              <a:t>si</a:t>
            </a:r>
            <a:r>
              <a:rPr lang="en-US" sz="2300" dirty="0"/>
              <a:t> </a:t>
            </a:r>
            <a:r>
              <a:rPr lang="en-US" sz="2300" dirty="0" err="1"/>
              <a:t>binarizat</a:t>
            </a:r>
            <a:r>
              <a:rPr lang="en-US" sz="2300" dirty="0"/>
              <a:t> ) </a:t>
            </a:r>
            <a:r>
              <a:rPr lang="en-US" sz="2300" dirty="0" err="1"/>
              <a:t>pentru</a:t>
            </a:r>
            <a:r>
              <a:rPr lang="en-US" sz="2300" dirty="0"/>
              <a:t> a </a:t>
            </a:r>
            <a:r>
              <a:rPr lang="en-US" sz="2300" dirty="0" err="1"/>
              <a:t>verifica</a:t>
            </a:r>
            <a:r>
              <a:rPr lang="en-US" sz="2300" dirty="0"/>
              <a:t> </a:t>
            </a:r>
            <a:r>
              <a:rPr lang="en-US" sz="2300" dirty="0" err="1"/>
              <a:t>daca</a:t>
            </a:r>
            <a:r>
              <a:rPr lang="en-US" sz="2300" dirty="0"/>
              <a:t> se </a:t>
            </a:r>
            <a:r>
              <a:rPr lang="en-US" sz="2300" dirty="0" err="1"/>
              <a:t>potriveste</a:t>
            </a:r>
            <a:r>
              <a:rPr lang="en-US" sz="2300" dirty="0"/>
              <a:t> cu un </a:t>
            </a:r>
            <a:r>
              <a:rPr lang="en-US" sz="2300" dirty="0" err="1"/>
              <a:t>simbol</a:t>
            </a:r>
            <a:r>
              <a:rPr lang="en-US" sz="2300" dirty="0"/>
              <a:t> </a:t>
            </a:r>
            <a:r>
              <a:rPr lang="en-US" sz="2300" dirty="0" err="1"/>
              <a:t>asteptat</a:t>
            </a:r>
            <a:r>
              <a:rPr lang="en-US" sz="2300" dirty="0"/>
              <a:t>.</a:t>
            </a:r>
          </a:p>
        </p:txBody>
      </p:sp>
      <p:pic>
        <p:nvPicPr>
          <p:cNvPr id="7" name="Imagine 6" descr="O imagine care conține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EB82E4C4-57D4-4657-1B82-C59DFE5C5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52" y="1920875"/>
            <a:ext cx="9574779" cy="5361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650" spc="-265" dirty="0">
                <a:solidFill>
                  <a:srgbClr val="005089"/>
                </a:solidFill>
              </a:rPr>
              <a:t>3.</a:t>
            </a:r>
            <a:r>
              <a:rPr sz="5650" spc="-515" dirty="0">
                <a:solidFill>
                  <a:srgbClr val="005089"/>
                </a:solidFill>
              </a:rPr>
              <a:t> </a:t>
            </a:r>
            <a:r>
              <a:rPr sz="5650" spc="-10" dirty="0">
                <a:solidFill>
                  <a:srgbClr val="005297"/>
                </a:solidFill>
              </a:rPr>
              <a:t>Stadiul</a:t>
            </a:r>
            <a:r>
              <a:rPr sz="5650" spc="-480" dirty="0">
                <a:solidFill>
                  <a:srgbClr val="005297"/>
                </a:solidFill>
              </a:rPr>
              <a:t> </a:t>
            </a:r>
            <a:r>
              <a:rPr sz="5650" spc="-40" dirty="0">
                <a:solidFill>
                  <a:srgbClr val="034D85"/>
                </a:solidFill>
              </a:rPr>
              <a:t>Actual</a:t>
            </a:r>
            <a:r>
              <a:rPr sz="5650" spc="-495" dirty="0">
                <a:solidFill>
                  <a:srgbClr val="034D85"/>
                </a:solidFill>
              </a:rPr>
              <a:t> </a:t>
            </a:r>
            <a:r>
              <a:rPr lang="en-US" sz="5650" spc="-30" dirty="0" err="1">
                <a:solidFill>
                  <a:srgbClr val="004F89"/>
                </a:solidFill>
              </a:rPr>
              <a:t>s</a:t>
            </a:r>
            <a:r>
              <a:rPr sz="5650" spc="-30" dirty="0" err="1">
                <a:solidFill>
                  <a:srgbClr val="004F89"/>
                </a:solidFill>
              </a:rPr>
              <a:t>i</a:t>
            </a:r>
            <a:r>
              <a:rPr sz="5650" spc="-395" dirty="0">
                <a:solidFill>
                  <a:srgbClr val="004F89"/>
                </a:solidFill>
              </a:rPr>
              <a:t> </a:t>
            </a:r>
            <a:r>
              <a:rPr sz="5650" spc="55" dirty="0">
                <a:solidFill>
                  <a:srgbClr val="054D80"/>
                </a:solidFill>
              </a:rPr>
              <a:t>Beneficii</a:t>
            </a:r>
            <a:endParaRPr sz="5650" dirty="0"/>
          </a:p>
        </p:txBody>
      </p:sp>
      <p:sp>
        <p:nvSpPr>
          <p:cNvPr id="3" name="object 3"/>
          <p:cNvSpPr txBox="1"/>
          <p:nvPr/>
        </p:nvSpPr>
        <p:spPr>
          <a:xfrm>
            <a:off x="1569931" y="3817681"/>
            <a:ext cx="7225665" cy="4763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 algn="just">
              <a:lnSpc>
                <a:spcPct val="100000"/>
              </a:lnSpc>
              <a:spcBef>
                <a:spcPts val="125"/>
              </a:spcBef>
            </a:pPr>
            <a:r>
              <a:rPr sz="3450" spc="-70" dirty="0">
                <a:solidFill>
                  <a:srgbClr val="005095"/>
                </a:solidFill>
                <a:latin typeface="Arial"/>
                <a:cs typeface="Arial"/>
              </a:rPr>
              <a:t>Stadiul</a:t>
            </a:r>
            <a:r>
              <a:rPr sz="3450" spc="-204" dirty="0">
                <a:solidFill>
                  <a:srgbClr val="005095"/>
                </a:solidFill>
                <a:latin typeface="Arial"/>
                <a:cs typeface="Arial"/>
              </a:rPr>
              <a:t> </a:t>
            </a:r>
            <a:r>
              <a:rPr sz="3450" spc="-10" dirty="0">
                <a:solidFill>
                  <a:srgbClr val="08528C"/>
                </a:solidFill>
                <a:latin typeface="Arial"/>
                <a:cs typeface="Arial"/>
              </a:rPr>
              <a:t>Actual</a:t>
            </a:r>
            <a:endParaRPr sz="3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2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US" sz="2300" b="1" dirty="0" err="1">
                <a:latin typeface="Arial"/>
                <a:cs typeface="Arial"/>
              </a:rPr>
              <a:t>Solutii</a:t>
            </a:r>
            <a:r>
              <a:rPr lang="en-US" sz="2300" b="1" dirty="0">
                <a:latin typeface="Arial"/>
                <a:cs typeface="Arial"/>
              </a:rPr>
              <a:t> </a:t>
            </a:r>
            <a:r>
              <a:rPr lang="en-US" sz="2300" b="1" dirty="0" err="1">
                <a:latin typeface="Arial"/>
                <a:cs typeface="Arial"/>
              </a:rPr>
              <a:t>Existente</a:t>
            </a:r>
            <a:r>
              <a:rPr lang="en-US" sz="2300" dirty="0">
                <a:latin typeface="Arial"/>
                <a:cs typeface="Arial"/>
              </a:rPr>
              <a:t>: </a:t>
            </a:r>
            <a:r>
              <a:rPr lang="en-US" sz="2300" dirty="0" err="1">
                <a:latin typeface="Arial"/>
                <a:cs typeface="Arial"/>
              </a:rPr>
              <a:t>Inspectia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manuala</a:t>
            </a:r>
            <a:r>
              <a:rPr lang="en-US" sz="2300" dirty="0">
                <a:latin typeface="Arial"/>
                <a:cs typeface="Arial"/>
              </a:rPr>
              <a:t> (</a:t>
            </a:r>
            <a:r>
              <a:rPr lang="en-US" sz="2300" dirty="0" err="1">
                <a:latin typeface="Arial"/>
                <a:cs typeface="Arial"/>
              </a:rPr>
              <a:t>lenta,subiectiva</a:t>
            </a:r>
            <a:r>
              <a:rPr lang="en-US" sz="2300" dirty="0">
                <a:latin typeface="Arial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US" sz="2300" dirty="0" err="1">
                <a:latin typeface="Arial"/>
                <a:cs typeface="Arial"/>
              </a:rPr>
              <a:t>sau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Algoritmi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traditionali</a:t>
            </a:r>
            <a:r>
              <a:rPr lang="en-US" sz="2300" dirty="0">
                <a:latin typeface="Arial"/>
                <a:cs typeface="Arial"/>
              </a:rPr>
              <a:t> ( ex: Template Matching ), care sunt </a:t>
            </a:r>
            <a:r>
              <a:rPr lang="en-US" sz="2300" dirty="0" err="1">
                <a:latin typeface="Arial"/>
                <a:cs typeface="Arial"/>
              </a:rPr>
              <a:t>rigizi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sensibili</a:t>
            </a:r>
            <a:r>
              <a:rPr lang="en-US" sz="2300" dirty="0">
                <a:latin typeface="Arial"/>
                <a:cs typeface="Arial"/>
              </a:rPr>
              <a:t> la </a:t>
            </a:r>
            <a:r>
              <a:rPr lang="en-US" sz="2300" dirty="0" err="1">
                <a:latin typeface="Arial"/>
                <a:cs typeface="Arial"/>
              </a:rPr>
              <a:t>zgomot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sau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rotatii</a:t>
            </a:r>
            <a:r>
              <a:rPr lang="en-US" sz="230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5"/>
              </a:spcBef>
            </a:pPr>
            <a:r>
              <a:rPr sz="3350" dirty="0" err="1">
                <a:solidFill>
                  <a:srgbClr val="084F82"/>
                </a:solidFill>
                <a:latin typeface="Arial"/>
                <a:cs typeface="Arial"/>
              </a:rPr>
              <a:t>Tendin</a:t>
            </a:r>
            <a:r>
              <a:rPr lang="en-US" sz="3350" dirty="0" err="1">
                <a:solidFill>
                  <a:srgbClr val="084F82"/>
                </a:solidFill>
                <a:latin typeface="Arial"/>
                <a:cs typeface="Arial"/>
              </a:rPr>
              <a:t>t</a:t>
            </a:r>
            <a:r>
              <a:rPr sz="3350" dirty="0" err="1">
                <a:solidFill>
                  <a:srgbClr val="084F82"/>
                </a:solidFill>
                <a:latin typeface="Arial"/>
                <a:cs typeface="Arial"/>
              </a:rPr>
              <a:t>a</a:t>
            </a:r>
            <a:r>
              <a:rPr sz="3350" spc="-60" dirty="0">
                <a:solidFill>
                  <a:srgbClr val="084F82"/>
                </a:solidFill>
                <a:latin typeface="Arial"/>
                <a:cs typeface="Arial"/>
              </a:rPr>
              <a:t> </a:t>
            </a:r>
            <a:r>
              <a:rPr sz="3350" spc="-10" dirty="0" err="1">
                <a:solidFill>
                  <a:srgbClr val="014B89"/>
                </a:solidFill>
                <a:latin typeface="Arial"/>
                <a:cs typeface="Arial"/>
              </a:rPr>
              <a:t>Actual</a:t>
            </a:r>
            <a:r>
              <a:rPr lang="en-US" sz="3350" spc="-10" dirty="0" err="1">
                <a:solidFill>
                  <a:srgbClr val="014B89"/>
                </a:solidFill>
                <a:latin typeface="Arial"/>
                <a:cs typeface="Arial"/>
              </a:rPr>
              <a:t>a</a:t>
            </a:r>
            <a:endParaRPr lang="en-US" sz="3350" spc="-10" dirty="0">
              <a:solidFill>
                <a:srgbClr val="014B89"/>
              </a:solidFill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5"/>
              </a:spcBef>
            </a:pPr>
            <a:endParaRPr lang="en-US" sz="3350" spc="-10" dirty="0">
              <a:solidFill>
                <a:srgbClr val="014B89"/>
              </a:solidFill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5"/>
              </a:spcBef>
            </a:pPr>
            <a:r>
              <a:rPr lang="en-US" sz="2300" dirty="0">
                <a:latin typeface="Arial"/>
                <a:cs typeface="Arial"/>
              </a:rPr>
              <a:t>Tranzitia </a:t>
            </a:r>
            <a:r>
              <a:rPr lang="en-US" sz="2300" dirty="0" err="1">
                <a:latin typeface="Arial"/>
                <a:cs typeface="Arial"/>
              </a:rPr>
              <a:t>catre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solutii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bazate</a:t>
            </a:r>
            <a:r>
              <a:rPr lang="en-US" sz="2300" dirty="0">
                <a:latin typeface="Arial"/>
                <a:cs typeface="Arial"/>
              </a:rPr>
              <a:t> pe Deep/Machine Learning</a:t>
            </a:r>
          </a:p>
          <a:p>
            <a:pPr marL="13970" algn="just">
              <a:lnSpc>
                <a:spcPct val="100000"/>
              </a:lnSpc>
              <a:spcBef>
                <a:spcPts val="5"/>
              </a:spcBef>
            </a:pPr>
            <a:r>
              <a:rPr lang="en-US" sz="2300" dirty="0" err="1">
                <a:latin typeface="Arial"/>
                <a:cs typeface="Arial"/>
              </a:rPr>
              <a:t>pentru</a:t>
            </a:r>
            <a:r>
              <a:rPr lang="en-US" sz="2300" dirty="0">
                <a:latin typeface="Arial"/>
                <a:cs typeface="Arial"/>
              </a:rPr>
              <a:t> a </a:t>
            </a:r>
            <a:r>
              <a:rPr lang="en-US" sz="2300" dirty="0" err="1">
                <a:latin typeface="Arial"/>
                <a:cs typeface="Arial"/>
              </a:rPr>
              <a:t>putea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recunoaste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corect</a:t>
            </a:r>
            <a:r>
              <a:rPr lang="en-US" sz="2300" dirty="0">
                <a:latin typeface="Arial"/>
                <a:cs typeface="Arial"/>
              </a:rPr>
              <a:t> un </a:t>
            </a:r>
            <a:r>
              <a:rPr lang="en-US" sz="2300" dirty="0" err="1">
                <a:latin typeface="Arial"/>
                <a:cs typeface="Arial"/>
              </a:rPr>
              <a:t>simbol</a:t>
            </a:r>
            <a:r>
              <a:rPr lang="en-US" sz="2300" dirty="0">
                <a:latin typeface="Arial"/>
                <a:cs typeface="Arial"/>
              </a:rPr>
              <a:t>, </a:t>
            </a:r>
            <a:r>
              <a:rPr lang="en-US" sz="2300" dirty="0" err="1">
                <a:latin typeface="Arial"/>
                <a:cs typeface="Arial"/>
              </a:rPr>
              <a:t>chiar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daca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este</a:t>
            </a:r>
            <a:r>
              <a:rPr lang="en-US" sz="2300" dirty="0">
                <a:latin typeface="Arial"/>
                <a:cs typeface="Arial"/>
              </a:rPr>
              <a:t> usor </a:t>
            </a:r>
            <a:r>
              <a:rPr lang="en-US" sz="2300" dirty="0" err="1">
                <a:latin typeface="Arial"/>
                <a:cs typeface="Arial"/>
              </a:rPr>
              <a:t>modificat</a:t>
            </a:r>
            <a:r>
              <a:rPr lang="en-US" sz="2300" dirty="0">
                <a:latin typeface="Arial"/>
                <a:cs typeface="Arial"/>
              </a:rPr>
              <a:t>.</a:t>
            </a:r>
          </a:p>
          <a:p>
            <a:pPr marL="13970" algn="just">
              <a:lnSpc>
                <a:spcPct val="100000"/>
              </a:lnSpc>
              <a:spcBef>
                <a:spcPts val="5"/>
              </a:spcBef>
            </a:pPr>
            <a:endParaRPr sz="2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60512" y="3834042"/>
            <a:ext cx="7105650" cy="4319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65" dirty="0" err="1">
                <a:solidFill>
                  <a:srgbClr val="034F83"/>
                </a:solidFill>
                <a:latin typeface="Arial"/>
                <a:cs typeface="Arial"/>
              </a:rPr>
              <a:t>Beneficii</a:t>
            </a:r>
            <a:r>
              <a:rPr sz="3350" spc="-484" dirty="0">
                <a:solidFill>
                  <a:srgbClr val="034F83"/>
                </a:solidFill>
                <a:latin typeface="Arial"/>
                <a:cs typeface="Arial"/>
              </a:rPr>
              <a:t> </a:t>
            </a:r>
            <a:r>
              <a:rPr sz="3350" spc="-10" dirty="0" err="1">
                <a:solidFill>
                  <a:srgbClr val="0A4F83"/>
                </a:solidFill>
                <a:latin typeface="Arial"/>
                <a:cs typeface="Arial"/>
              </a:rPr>
              <a:t>Măsurabile</a:t>
            </a:r>
            <a:endParaRPr lang="en-US" sz="3350" spc="-10" dirty="0">
              <a:solidFill>
                <a:srgbClr val="0A4F83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350" spc="-10" dirty="0">
              <a:solidFill>
                <a:srgbClr val="0A4F83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b="1" dirty="0" err="1">
                <a:latin typeface="Arial"/>
                <a:cs typeface="Arial"/>
              </a:rPr>
              <a:t>Acuratete</a:t>
            </a:r>
            <a:r>
              <a:rPr lang="en-US" sz="2300" b="1" dirty="0">
                <a:latin typeface="Arial"/>
                <a:cs typeface="Arial"/>
              </a:rPr>
              <a:t> </a:t>
            </a:r>
            <a:r>
              <a:rPr lang="en-US" sz="2300" b="1" dirty="0" err="1">
                <a:latin typeface="Arial"/>
                <a:cs typeface="Arial"/>
              </a:rPr>
              <a:t>Imbunatatita</a:t>
            </a:r>
            <a:r>
              <a:rPr lang="en-US" sz="2300" dirty="0">
                <a:latin typeface="Arial"/>
                <a:cs typeface="Arial"/>
              </a:rPr>
              <a:t>: </a:t>
            </a:r>
            <a:r>
              <a:rPr lang="en-US" sz="2300" dirty="0" err="1">
                <a:latin typeface="Arial"/>
                <a:cs typeface="Arial"/>
              </a:rPr>
              <a:t>Cresterea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ratei</a:t>
            </a:r>
            <a:r>
              <a:rPr lang="en-US" sz="2300" dirty="0">
                <a:latin typeface="Arial"/>
                <a:cs typeface="Arial"/>
              </a:rPr>
              <a:t> de </a:t>
            </a:r>
            <a:r>
              <a:rPr lang="en-US" sz="2300" dirty="0" err="1">
                <a:latin typeface="Arial"/>
                <a:cs typeface="Arial"/>
              </a:rPr>
              <a:t>recunoastere</a:t>
            </a:r>
            <a:r>
              <a:rPr lang="en-US" sz="2300" dirty="0">
                <a:latin typeface="Arial"/>
                <a:cs typeface="Arial"/>
              </a:rPr>
              <a:t> ( de la 95% la </a:t>
            </a:r>
            <a:r>
              <a:rPr lang="en-US" sz="2300" dirty="0" err="1">
                <a:latin typeface="Arial"/>
                <a:cs typeface="Arial"/>
              </a:rPr>
              <a:t>peste</a:t>
            </a:r>
            <a:r>
              <a:rPr lang="en-US" sz="2300" dirty="0">
                <a:latin typeface="Arial"/>
                <a:cs typeface="Arial"/>
              </a:rPr>
              <a:t> 99% ).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b="1" dirty="0" err="1">
                <a:latin typeface="Arial"/>
                <a:cs typeface="Arial"/>
              </a:rPr>
              <a:t>Viteza</a:t>
            </a:r>
            <a:r>
              <a:rPr lang="en-US" sz="2300" b="1" dirty="0">
                <a:latin typeface="Arial"/>
                <a:cs typeface="Arial"/>
              </a:rPr>
              <a:t> de </a:t>
            </a:r>
            <a:r>
              <a:rPr lang="en-US" sz="2300" b="1" dirty="0" err="1">
                <a:latin typeface="Arial"/>
                <a:cs typeface="Arial"/>
              </a:rPr>
              <a:t>Inspectie</a:t>
            </a:r>
            <a:r>
              <a:rPr lang="en-US" sz="2300" dirty="0">
                <a:latin typeface="Arial"/>
                <a:cs typeface="Arial"/>
              </a:rPr>
              <a:t>: </a:t>
            </a:r>
            <a:r>
              <a:rPr lang="en-US" sz="2300" dirty="0" err="1">
                <a:latin typeface="Arial"/>
                <a:cs typeface="Arial"/>
              </a:rPr>
              <a:t>Clasificarea</a:t>
            </a:r>
            <a:r>
              <a:rPr lang="en-US" sz="2300" dirty="0">
                <a:latin typeface="Arial"/>
                <a:cs typeface="Arial"/>
              </a:rPr>
              <a:t> in </a:t>
            </a:r>
            <a:r>
              <a:rPr lang="en-US" sz="2300" dirty="0" err="1">
                <a:latin typeface="Arial"/>
                <a:cs typeface="Arial"/>
              </a:rPr>
              <a:t>timp</a:t>
            </a:r>
            <a:r>
              <a:rPr lang="en-US" sz="2300" dirty="0">
                <a:latin typeface="Arial"/>
                <a:cs typeface="Arial"/>
              </a:rPr>
              <a:t> real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dirty="0">
                <a:latin typeface="Arial"/>
                <a:cs typeface="Arial"/>
              </a:rPr>
              <a:t>( </a:t>
            </a:r>
            <a:r>
              <a:rPr lang="en-US" sz="2300" dirty="0" err="1">
                <a:latin typeface="Arial"/>
                <a:cs typeface="Arial"/>
              </a:rPr>
              <a:t>milisecunde</a:t>
            </a:r>
            <a:r>
              <a:rPr lang="en-US" sz="2300" dirty="0">
                <a:latin typeface="Arial"/>
                <a:cs typeface="Arial"/>
              </a:rPr>
              <a:t> ), </a:t>
            </a:r>
            <a:r>
              <a:rPr lang="en-US" sz="2300" dirty="0" err="1">
                <a:latin typeface="Arial"/>
                <a:cs typeface="Arial"/>
              </a:rPr>
              <a:t>esentiala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pentru</a:t>
            </a:r>
            <a:r>
              <a:rPr lang="en-US" sz="2300" dirty="0">
                <a:latin typeface="Arial"/>
                <a:cs typeface="Arial"/>
              </a:rPr>
              <a:t> un debit mare de </a:t>
            </a:r>
            <a:r>
              <a:rPr lang="en-US" sz="2300" dirty="0" err="1">
                <a:latin typeface="Arial"/>
                <a:cs typeface="Arial"/>
              </a:rPr>
              <a:t>productie</a:t>
            </a:r>
            <a:r>
              <a:rPr lang="en-US" sz="2300" dirty="0">
                <a:latin typeface="Arial"/>
                <a:cs typeface="Arial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b="1" dirty="0" err="1">
                <a:latin typeface="Arial"/>
                <a:cs typeface="Arial"/>
              </a:rPr>
              <a:t>Reducerea</a:t>
            </a:r>
            <a:r>
              <a:rPr lang="en-US" sz="2300" b="1" dirty="0">
                <a:latin typeface="Arial"/>
                <a:cs typeface="Arial"/>
              </a:rPr>
              <a:t> </a:t>
            </a:r>
            <a:r>
              <a:rPr lang="en-US" sz="2300" b="1" dirty="0" err="1">
                <a:latin typeface="Arial"/>
                <a:cs typeface="Arial"/>
              </a:rPr>
              <a:t>Costurilor</a:t>
            </a:r>
            <a:r>
              <a:rPr lang="en-US" sz="2300" dirty="0">
                <a:latin typeface="Arial"/>
                <a:cs typeface="Arial"/>
              </a:rPr>
              <a:t>: </a:t>
            </a:r>
            <a:r>
              <a:rPr lang="en-US" sz="2300" dirty="0" err="1">
                <a:latin typeface="Arial"/>
                <a:cs typeface="Arial"/>
              </a:rPr>
              <a:t>Minimizarea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rebuturilor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cauzate</a:t>
            </a:r>
            <a:r>
              <a:rPr lang="en-US" sz="2300" dirty="0">
                <a:latin typeface="Arial"/>
                <a:cs typeface="Arial"/>
              </a:rPr>
              <a:t> de </a:t>
            </a:r>
            <a:r>
              <a:rPr lang="en-US" sz="2300" dirty="0" err="1">
                <a:latin typeface="Arial"/>
                <a:cs typeface="Arial"/>
              </a:rPr>
              <a:t>etichetarea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gresita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si</a:t>
            </a:r>
            <a:r>
              <a:rPr lang="en-US" sz="2300" dirty="0">
                <a:latin typeface="Arial"/>
                <a:cs typeface="Arial"/>
              </a:rPr>
              <a:t> a </a:t>
            </a:r>
            <a:r>
              <a:rPr lang="en-US" sz="2300" dirty="0" err="1">
                <a:latin typeface="Arial"/>
                <a:cs typeface="Arial"/>
              </a:rPr>
              <a:t>erorilor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umane</a:t>
            </a:r>
            <a:r>
              <a:rPr lang="en-US" sz="2300" dirty="0"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4601954"/>
            <a:ext cx="20088860" cy="110489"/>
            <a:chOff x="15706" y="4601954"/>
            <a:chExt cx="20088860" cy="1104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4601954"/>
              <a:ext cx="20088393" cy="1099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706" y="4601954"/>
              <a:ext cx="20080605" cy="102235"/>
            </a:xfrm>
            <a:custGeom>
              <a:avLst/>
              <a:gdLst/>
              <a:ahLst/>
              <a:cxnLst/>
              <a:rect l="l" t="t" r="r" b="b"/>
              <a:pathLst>
                <a:path w="20080605" h="102235">
                  <a:moveTo>
                    <a:pt x="20080541" y="102091"/>
                  </a:moveTo>
                  <a:lnTo>
                    <a:pt x="0" y="10209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02091"/>
                  </a:lnTo>
                  <a:close/>
                </a:path>
              </a:pathLst>
            </a:custGeom>
            <a:solidFill>
              <a:srgbClr val="004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20096311" cy="11309350"/>
          </a:xfrm>
          <a:custGeom>
            <a:avLst/>
            <a:gdLst/>
            <a:ahLst/>
            <a:cxnLst/>
            <a:rect l="l" t="t" r="r" b="b"/>
            <a:pathLst>
              <a:path w="20080605" h="808989">
                <a:moveTo>
                  <a:pt x="20080541" y="808875"/>
                </a:moveTo>
                <a:lnTo>
                  <a:pt x="0" y="80887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08875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20895" y="4985184"/>
            <a:ext cx="10146030" cy="1341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600" spc="-340" dirty="0">
                <a:solidFill>
                  <a:srgbClr val="FFFFFF"/>
                </a:solidFill>
                <a:latin typeface="Arial"/>
                <a:cs typeface="Arial"/>
              </a:rPr>
              <a:t>Descrierea</a:t>
            </a:r>
            <a:r>
              <a:rPr sz="86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600" spc="-95" dirty="0">
                <a:solidFill>
                  <a:srgbClr val="FFFFFF"/>
                </a:solidFill>
                <a:latin typeface="Arial"/>
                <a:cs typeface="Arial"/>
              </a:rPr>
              <a:t>Sistemului</a:t>
            </a:r>
            <a:endParaRPr sz="86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6769427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4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46436" y="6672306"/>
            <a:ext cx="899414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62420" algn="l"/>
                <a:tab pos="8168005" algn="l"/>
              </a:tabLst>
            </a:pPr>
            <a:r>
              <a:rPr sz="27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7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10" dirty="0" err="1">
                <a:solidFill>
                  <a:srgbClr val="FFFFFF"/>
                </a:solidFill>
                <a:latin typeface="Arial"/>
                <a:cs typeface="Arial"/>
              </a:rPr>
              <a:t>analiz</a:t>
            </a:r>
            <a:r>
              <a:rPr lang="en-US" sz="2700" spc="-10" dirty="0" err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0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7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65" dirty="0" err="1">
                <a:solidFill>
                  <a:srgbClr val="FFFFFF"/>
                </a:solidFill>
                <a:latin typeface="Arial"/>
                <a:cs typeface="Arial"/>
              </a:rPr>
              <a:t>arhitec</a:t>
            </a:r>
            <a:r>
              <a:rPr sz="2700" spc="80" dirty="0" err="1">
                <a:solidFill>
                  <a:srgbClr val="FFFFFF"/>
                </a:solidFill>
                <a:latin typeface="Arial"/>
                <a:cs typeface="Arial"/>
              </a:rPr>
              <a:t>turii</a:t>
            </a:r>
            <a:r>
              <a:rPr sz="27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700" spc="35" dirty="0" err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700" dirty="0" err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95" dirty="0" err="1">
                <a:solidFill>
                  <a:srgbClr val="FFFFFF"/>
                </a:solidFill>
                <a:latin typeface="Arial"/>
                <a:cs typeface="Arial"/>
              </a:rPr>
              <a:t>componentelor</a:t>
            </a:r>
            <a:r>
              <a:rPr lang="en-US" sz="27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lang="en-US" sz="27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10" dirty="0" err="1">
                <a:solidFill>
                  <a:srgbClr val="FFFFFF"/>
                </a:solidFill>
                <a:latin typeface="Arial"/>
                <a:cs typeface="Arial"/>
              </a:rPr>
              <a:t>alese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5800" spc="-180" dirty="0">
                <a:solidFill>
                  <a:srgbClr val="00467E"/>
                </a:solidFill>
              </a:rPr>
              <a:t>4.</a:t>
            </a:r>
            <a:r>
              <a:rPr sz="5800" spc="-695" dirty="0">
                <a:solidFill>
                  <a:srgbClr val="00467E"/>
                </a:solidFill>
              </a:rPr>
              <a:t> </a:t>
            </a:r>
            <a:r>
              <a:rPr sz="5800" spc="-35" dirty="0">
                <a:solidFill>
                  <a:srgbClr val="03497B"/>
                </a:solidFill>
              </a:rPr>
              <a:t>Arhitectura</a:t>
            </a:r>
            <a:r>
              <a:rPr sz="5800" spc="-320" dirty="0">
                <a:solidFill>
                  <a:srgbClr val="03497B"/>
                </a:solidFill>
              </a:rPr>
              <a:t> </a:t>
            </a:r>
            <a:r>
              <a:rPr sz="5800" spc="-25" dirty="0">
                <a:solidFill>
                  <a:srgbClr val="035689"/>
                </a:solidFill>
              </a:rPr>
              <a:t>Sistemului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2069013" y="5176933"/>
            <a:ext cx="341693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004979"/>
                </a:solidFill>
                <a:latin typeface="Arial"/>
                <a:cs typeface="Arial"/>
              </a:rPr>
              <a:t>Arhitectură</a:t>
            </a:r>
            <a:r>
              <a:rPr sz="3350" spc="-35" dirty="0">
                <a:solidFill>
                  <a:srgbClr val="004979"/>
                </a:solidFill>
                <a:latin typeface="Arial"/>
                <a:cs typeface="Arial"/>
              </a:rPr>
              <a:t> </a:t>
            </a:r>
            <a:r>
              <a:rPr sz="3350" spc="80" dirty="0">
                <a:solidFill>
                  <a:srgbClr val="004B80"/>
                </a:solidFill>
                <a:latin typeface="Arial"/>
                <a:cs typeface="Arial"/>
              </a:rPr>
              <a:t>Model</a:t>
            </a:r>
            <a:endParaRPr sz="3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210" y="6167086"/>
            <a:ext cx="4653915" cy="15931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22860" algn="ctr">
              <a:lnSpc>
                <a:spcPct val="113599"/>
              </a:lnSpc>
              <a:spcBef>
                <a:spcPts val="100"/>
              </a:spcBef>
              <a:tabLst>
                <a:tab pos="1565275" algn="l"/>
              </a:tabLst>
            </a:pPr>
            <a:r>
              <a:rPr lang="en-US" sz="2300" dirty="0" err="1">
                <a:latin typeface="Arial"/>
                <a:cs typeface="Arial"/>
              </a:rPr>
              <a:t>Clasificator</a:t>
            </a:r>
            <a:r>
              <a:rPr lang="en-US" sz="2300" dirty="0">
                <a:latin typeface="Arial"/>
                <a:cs typeface="Arial"/>
              </a:rPr>
              <a:t> de pattern-</a:t>
            </a:r>
            <a:r>
              <a:rPr lang="en-US" sz="2300" dirty="0" err="1">
                <a:latin typeface="Arial"/>
                <a:cs typeface="Arial"/>
              </a:rPr>
              <a:t>uri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antrenat</a:t>
            </a:r>
            <a:r>
              <a:rPr lang="en-US" sz="2300" dirty="0">
                <a:latin typeface="Arial"/>
                <a:cs typeface="Arial"/>
              </a:rPr>
              <a:t> integral in LabView. Ne </a:t>
            </a:r>
            <a:r>
              <a:rPr lang="en-US" sz="2300" dirty="0" err="1">
                <a:latin typeface="Arial"/>
                <a:cs typeface="Arial"/>
              </a:rPr>
              <a:t>folosim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NeuralLink</a:t>
            </a:r>
            <a:r>
              <a:rPr lang="en-US" sz="2300" dirty="0">
                <a:latin typeface="Arial"/>
                <a:cs typeface="Arial"/>
              </a:rPr>
              <a:t>, efficient </a:t>
            </a:r>
            <a:r>
              <a:rPr lang="en-US" sz="2300" dirty="0" err="1">
                <a:latin typeface="Arial"/>
                <a:cs typeface="Arial"/>
              </a:rPr>
              <a:t>pentru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sarcini</a:t>
            </a:r>
            <a:r>
              <a:rPr lang="en-US" sz="2300" dirty="0">
                <a:latin typeface="Arial"/>
                <a:cs typeface="Arial"/>
              </a:rPr>
              <a:t> de </a:t>
            </a:r>
            <a:r>
              <a:rPr lang="en-US" sz="2300" dirty="0" err="1">
                <a:latin typeface="Arial"/>
                <a:cs typeface="Arial"/>
              </a:rPr>
              <a:t>clasificare</a:t>
            </a:r>
            <a:r>
              <a:rPr lang="en-US" sz="2300" dirty="0">
                <a:latin typeface="Arial"/>
                <a:cs typeface="Arial"/>
              </a:rPr>
              <a:t> cu date </a:t>
            </a:r>
            <a:r>
              <a:rPr lang="en-US" sz="2300" dirty="0" err="1">
                <a:latin typeface="Arial"/>
                <a:cs typeface="Arial"/>
              </a:rPr>
              <a:t>structurate</a:t>
            </a:r>
            <a:r>
              <a:rPr lang="en-US" sz="2300" dirty="0"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6339" y="5169080"/>
            <a:ext cx="413702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55" dirty="0">
                <a:solidFill>
                  <a:srgbClr val="005691"/>
                </a:solidFill>
                <a:latin typeface="Arial"/>
                <a:cs typeface="Arial"/>
              </a:rPr>
              <a:t>Componente</a:t>
            </a:r>
            <a:r>
              <a:rPr sz="3350" spc="-170" dirty="0">
                <a:solidFill>
                  <a:srgbClr val="005691"/>
                </a:solidFill>
                <a:latin typeface="Arial"/>
                <a:cs typeface="Arial"/>
              </a:rPr>
              <a:t> </a:t>
            </a:r>
            <a:r>
              <a:rPr sz="3350" spc="-30" dirty="0">
                <a:solidFill>
                  <a:srgbClr val="055293"/>
                </a:solidFill>
                <a:latin typeface="Arial"/>
                <a:cs typeface="Arial"/>
              </a:rPr>
              <a:t>Software</a:t>
            </a:r>
            <a:endParaRPr sz="3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3586" y="6143527"/>
            <a:ext cx="4648200" cy="161659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810" algn="ctr">
              <a:lnSpc>
                <a:spcPct val="114999"/>
              </a:lnSpc>
              <a:spcBef>
                <a:spcPts val="180"/>
              </a:spcBef>
            </a:pPr>
            <a:r>
              <a:rPr lang="en-US" sz="2300" dirty="0">
                <a:latin typeface="Arial"/>
                <a:cs typeface="Arial"/>
              </a:rPr>
              <a:t>GenerareDate.vi: </a:t>
            </a:r>
            <a:r>
              <a:rPr lang="en-US" sz="2300" dirty="0" err="1">
                <a:latin typeface="Arial"/>
                <a:cs typeface="Arial"/>
              </a:rPr>
              <a:t>Responsabil</a:t>
            </a:r>
            <a:r>
              <a:rPr lang="en-US" sz="2300" dirty="0">
                <a:latin typeface="Arial"/>
                <a:cs typeface="Arial"/>
              </a:rPr>
              <a:t>  cu pre-</a:t>
            </a:r>
            <a:r>
              <a:rPr lang="en-US" sz="2300" dirty="0" err="1">
                <a:latin typeface="Arial"/>
                <a:cs typeface="Arial"/>
              </a:rPr>
              <a:t>procesarea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conversia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intrarii</a:t>
            </a:r>
            <a:r>
              <a:rPr lang="en-US" sz="2300" dirty="0">
                <a:latin typeface="Arial"/>
                <a:cs typeface="Arial"/>
              </a:rPr>
              <a:t> ( String ), </a:t>
            </a:r>
            <a:r>
              <a:rPr lang="en-US" sz="2300" dirty="0" err="1">
                <a:latin typeface="Arial"/>
                <a:cs typeface="Arial"/>
              </a:rPr>
              <a:t>intr</a:t>
            </a:r>
            <a:r>
              <a:rPr lang="en-US" sz="2300" dirty="0">
                <a:latin typeface="Arial"/>
                <a:cs typeface="Arial"/>
              </a:rPr>
              <a:t> o </a:t>
            </a:r>
            <a:r>
              <a:rPr lang="en-US" sz="2300" dirty="0" err="1">
                <a:latin typeface="Arial"/>
                <a:cs typeface="Arial"/>
              </a:rPr>
              <a:t>matrice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booleana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pentru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afisarea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si</a:t>
            </a:r>
            <a:r>
              <a:rPr lang="en-US" sz="2300" dirty="0">
                <a:latin typeface="Arial"/>
                <a:cs typeface="Arial"/>
              </a:rPr>
              <a:t> </a:t>
            </a:r>
            <a:r>
              <a:rPr lang="en-US" sz="2300" dirty="0" err="1">
                <a:latin typeface="Arial"/>
                <a:cs typeface="Arial"/>
              </a:rPr>
              <a:t>vectorizare</a:t>
            </a:r>
            <a:r>
              <a:rPr lang="en-US" sz="2300" dirty="0"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83143" y="5161226"/>
            <a:ext cx="208788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35" dirty="0">
                <a:solidFill>
                  <a:srgbClr val="054D7E"/>
                </a:solidFill>
                <a:latin typeface="Arial"/>
                <a:cs typeface="Arial"/>
              </a:rPr>
              <a:t>Tehnologie</a:t>
            </a:r>
            <a:endParaRPr sz="3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98142" y="6112114"/>
            <a:ext cx="4297680" cy="205389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-9525" algn="ctr">
              <a:lnSpc>
                <a:spcPct val="115700"/>
              </a:lnSpc>
              <a:spcBef>
                <a:spcPts val="285"/>
              </a:spcBef>
              <a:tabLst>
                <a:tab pos="1403350" algn="l"/>
              </a:tabLst>
            </a:pPr>
            <a:r>
              <a:rPr lang="en-US" sz="2300" dirty="0">
                <a:latin typeface="Arial"/>
                <a:cs typeface="Arial"/>
              </a:rPr>
              <a:t>AntrenareNeuroni.vi: Vi-ul principal care continue </a:t>
            </a:r>
            <a:r>
              <a:rPr lang="en-US" sz="2300" dirty="0" err="1">
                <a:latin typeface="Arial"/>
                <a:cs typeface="Arial"/>
              </a:rPr>
              <a:t>logica</a:t>
            </a:r>
            <a:r>
              <a:rPr lang="en-US" sz="2300" dirty="0">
                <a:latin typeface="Arial"/>
                <a:cs typeface="Arial"/>
              </a:rPr>
              <a:t> de </a:t>
            </a:r>
            <a:r>
              <a:rPr lang="en-US" sz="2300" dirty="0" err="1">
                <a:latin typeface="Arial"/>
                <a:cs typeface="Arial"/>
              </a:rPr>
              <a:t>antrenare</a:t>
            </a:r>
            <a:r>
              <a:rPr lang="en-US" sz="2300" dirty="0">
                <a:latin typeface="Arial"/>
                <a:cs typeface="Arial"/>
              </a:rPr>
              <a:t>. </a:t>
            </a:r>
            <a:r>
              <a:rPr lang="en-US" sz="2300" dirty="0" err="1">
                <a:latin typeface="Arial"/>
                <a:cs typeface="Arial"/>
              </a:rPr>
              <a:t>Utilizeaza</a:t>
            </a:r>
            <a:r>
              <a:rPr lang="en-US" sz="2300" dirty="0">
                <a:latin typeface="Arial"/>
                <a:cs typeface="Arial"/>
              </a:rPr>
              <a:t> toolkit-ul </a:t>
            </a:r>
            <a:r>
              <a:rPr lang="en-US" sz="2300" b="1" dirty="0">
                <a:latin typeface="Arial"/>
                <a:cs typeface="Arial"/>
              </a:rPr>
              <a:t>Ni Super Simple Neural Network </a:t>
            </a:r>
            <a:r>
              <a:rPr lang="en-US" sz="2300" dirty="0">
                <a:latin typeface="Arial"/>
                <a:cs typeface="Arial"/>
              </a:rPr>
              <a:t>( SSNN).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87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4"/>
              </a:spcBef>
            </a:pPr>
            <a:r>
              <a:rPr lang="en-US" sz="5650" spc="-670" dirty="0">
                <a:solidFill>
                  <a:srgbClr val="054F77"/>
                </a:solidFill>
              </a:rPr>
              <a:t>5</a:t>
            </a:r>
            <a:r>
              <a:rPr sz="5650" spc="-670" dirty="0">
                <a:solidFill>
                  <a:srgbClr val="054F77"/>
                </a:solidFill>
              </a:rPr>
              <a:t>.</a:t>
            </a:r>
            <a:r>
              <a:rPr sz="5650" spc="-710" dirty="0">
                <a:solidFill>
                  <a:srgbClr val="054F77"/>
                </a:solidFill>
              </a:rPr>
              <a:t> </a:t>
            </a:r>
            <a:r>
              <a:rPr sz="5650" spc="170" dirty="0">
                <a:solidFill>
                  <a:srgbClr val="004F85"/>
                </a:solidFill>
              </a:rPr>
              <a:t>Fluxul</a:t>
            </a:r>
            <a:r>
              <a:rPr sz="5650" spc="-570" dirty="0">
                <a:solidFill>
                  <a:srgbClr val="004F85"/>
                </a:solidFill>
              </a:rPr>
              <a:t> </a:t>
            </a:r>
            <a:r>
              <a:rPr sz="5650" spc="-254" dirty="0">
                <a:solidFill>
                  <a:srgbClr val="004F82"/>
                </a:solidFill>
              </a:rPr>
              <a:t>de</a:t>
            </a:r>
            <a:r>
              <a:rPr sz="5650" spc="-610" dirty="0">
                <a:solidFill>
                  <a:srgbClr val="004F82"/>
                </a:solidFill>
              </a:rPr>
              <a:t> </a:t>
            </a:r>
            <a:r>
              <a:rPr sz="5650" spc="-220" dirty="0">
                <a:solidFill>
                  <a:srgbClr val="034F82"/>
                </a:solidFill>
              </a:rPr>
              <a:t>Date</a:t>
            </a:r>
            <a:r>
              <a:rPr sz="5650" spc="-270" dirty="0">
                <a:solidFill>
                  <a:srgbClr val="034F82"/>
                </a:solidFill>
              </a:rPr>
              <a:t> </a:t>
            </a:r>
            <a:r>
              <a:rPr sz="5650" spc="-40" dirty="0">
                <a:solidFill>
                  <a:srgbClr val="015083"/>
                </a:solidFill>
              </a:rPr>
              <a:t>(Simbol</a:t>
            </a:r>
            <a:r>
              <a:rPr sz="5650" spc="-655" dirty="0">
                <a:solidFill>
                  <a:srgbClr val="015083"/>
                </a:solidFill>
              </a:rPr>
              <a:t> </a:t>
            </a:r>
            <a:r>
              <a:rPr sz="5650" spc="55" dirty="0">
                <a:solidFill>
                  <a:srgbClr val="055287"/>
                </a:solidFill>
              </a:rPr>
              <a:t>Individual)</a:t>
            </a:r>
            <a:endParaRPr sz="5650" dirty="0"/>
          </a:p>
        </p:txBody>
      </p:sp>
      <p:sp>
        <p:nvSpPr>
          <p:cNvPr id="3" name="object 3"/>
          <p:cNvSpPr txBox="1"/>
          <p:nvPr/>
        </p:nvSpPr>
        <p:spPr>
          <a:xfrm>
            <a:off x="1047887" y="6684740"/>
            <a:ext cx="3977640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3350" spc="-80" dirty="0">
                <a:solidFill>
                  <a:schemeClr val="accent1"/>
                </a:solidFill>
                <a:latin typeface="Arial"/>
                <a:cs typeface="Arial"/>
              </a:rPr>
              <a:t>Pasul</a:t>
            </a:r>
            <a:r>
              <a:rPr sz="3350" spc="-4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3350" spc="-254" dirty="0">
                <a:solidFill>
                  <a:schemeClr val="accent1"/>
                </a:solidFill>
                <a:latin typeface="Arial"/>
                <a:cs typeface="Arial"/>
              </a:rPr>
              <a:t>1:</a:t>
            </a:r>
            <a:r>
              <a:rPr sz="3350" spc="-3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Captarea</a:t>
            </a:r>
            <a:r>
              <a:rPr lang="en-US" sz="3350" dirty="0">
                <a:solidFill>
                  <a:schemeClr val="accent1"/>
                </a:solidFill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datelor</a:t>
            </a:r>
            <a:r>
              <a:rPr lang="en-US" sz="3350" dirty="0">
                <a:solidFill>
                  <a:schemeClr val="accent1"/>
                </a:solidFill>
              </a:rPr>
              <a:t> (Input-ul):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începe</a:t>
            </a:r>
            <a:r>
              <a:rPr lang="en-US" dirty="0"/>
              <a:t> pe </a:t>
            </a:r>
            <a:r>
              <a:rPr lang="en-US" dirty="0" err="1"/>
              <a:t>panoul</a:t>
            </a:r>
            <a:r>
              <a:rPr lang="en-US" dirty="0"/>
              <a:t> frontal,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</a:t>
            </a:r>
            <a:r>
              <a:rPr lang="en-US" dirty="0" err="1"/>
              <a:t>desenează</a:t>
            </a:r>
            <a:r>
              <a:rPr lang="en-US" dirty="0"/>
              <a:t> manual </a:t>
            </a:r>
            <a:r>
              <a:rPr lang="en-US" dirty="0" err="1"/>
              <a:t>caracterele</a:t>
            </a:r>
            <a:r>
              <a:rPr lang="en-US" dirty="0"/>
              <a:t> pe o </a:t>
            </a:r>
            <a:r>
              <a:rPr lang="en-US" dirty="0" err="1"/>
              <a:t>grilă</a:t>
            </a:r>
            <a:r>
              <a:rPr lang="en-US" dirty="0"/>
              <a:t> de </a:t>
            </a:r>
            <a:r>
              <a:rPr lang="en-US" b="1" dirty="0"/>
              <a:t>9 </a:t>
            </a:r>
            <a:r>
              <a:rPr lang="en-US" b="1" dirty="0" err="1"/>
              <a:t>linii</a:t>
            </a:r>
            <a:r>
              <a:rPr lang="en-US" b="1" dirty="0"/>
              <a:t> și 28 de </a:t>
            </a:r>
            <a:r>
              <a:rPr lang="en-US" b="1" dirty="0" err="1"/>
              <a:t>coloane</a:t>
            </a:r>
            <a:r>
              <a:rPr lang="en-US" dirty="0"/>
              <a:t>.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interfață</a:t>
            </a:r>
            <a:r>
              <a:rPr lang="en-US" dirty="0"/>
              <a:t>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desenul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matrice</a:t>
            </a:r>
            <a:r>
              <a:rPr lang="en-US" dirty="0"/>
              <a:t> de date </a:t>
            </a:r>
            <a:r>
              <a:rPr lang="en-US" dirty="0" err="1"/>
              <a:t>binare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pixel </a:t>
            </a:r>
            <a:r>
              <a:rPr lang="en-US" dirty="0" err="1"/>
              <a:t>activat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„1”,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spațiul</a:t>
            </a:r>
            <a:r>
              <a:rPr lang="en-US" dirty="0"/>
              <a:t> liber </a:t>
            </a:r>
            <a:r>
              <a:rPr lang="en-US" dirty="0" err="1"/>
              <a:t>valoarea</a:t>
            </a:r>
            <a:r>
              <a:rPr lang="en-US" dirty="0"/>
              <a:t> „0”.</a:t>
            </a:r>
            <a:endParaRPr lang="en-US" dirty="0">
              <a:solidFill>
                <a:srgbClr val="161616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4786" y="3567034"/>
            <a:ext cx="3775710" cy="406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100"/>
              </a:spcBef>
            </a:pPr>
            <a:r>
              <a:rPr sz="3350" spc="-75" dirty="0">
                <a:solidFill>
                  <a:schemeClr val="accent1"/>
                </a:solidFill>
                <a:latin typeface="Arial"/>
                <a:cs typeface="Arial"/>
              </a:rPr>
              <a:t>Pasul</a:t>
            </a:r>
            <a:r>
              <a:rPr sz="3350" spc="-204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3350" spc="-65" dirty="0">
                <a:solidFill>
                  <a:schemeClr val="accent1"/>
                </a:solidFill>
                <a:latin typeface="Arial"/>
                <a:cs typeface="Arial"/>
              </a:rPr>
              <a:t>2:</a:t>
            </a:r>
            <a:r>
              <a:rPr sz="3350" spc="-36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Segmentarea</a:t>
            </a:r>
            <a:r>
              <a:rPr lang="en-US" sz="3350" dirty="0">
                <a:solidFill>
                  <a:schemeClr val="accent1"/>
                </a:solidFill>
              </a:rPr>
              <a:t> și </a:t>
            </a:r>
            <a:r>
              <a:rPr lang="en-US" sz="3350" dirty="0" err="1">
                <a:solidFill>
                  <a:schemeClr val="accent1"/>
                </a:solidFill>
              </a:rPr>
              <a:t>Preprocesarea</a:t>
            </a:r>
            <a:r>
              <a:rPr lang="en-US" sz="3350" dirty="0">
                <a:solidFill>
                  <a:schemeClr val="accent1"/>
                </a:solidFill>
              </a:rPr>
              <a:t>:</a:t>
            </a:r>
          </a:p>
          <a:p>
            <a:pPr marR="6985" algn="ctr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grila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lată</a:t>
            </a:r>
            <a:r>
              <a:rPr lang="en-US" dirty="0"/>
              <a:t>, </a:t>
            </a:r>
            <a:r>
              <a:rPr lang="en-US" dirty="0" err="1"/>
              <a:t>sistemul</a:t>
            </a:r>
            <a:r>
              <a:rPr lang="en-US" dirty="0"/>
              <a:t> o </a:t>
            </a:r>
            <a:r>
              <a:rPr lang="en-US" dirty="0" err="1"/>
              <a:t>împarte</a:t>
            </a:r>
            <a:r>
              <a:rPr lang="en-US" dirty="0"/>
              <a:t> automat în </a:t>
            </a:r>
            <a:r>
              <a:rPr lang="en-US" b="1" dirty="0"/>
              <a:t>4 zone </a:t>
            </a:r>
            <a:r>
              <a:rPr lang="en-US" b="1" dirty="0" err="1"/>
              <a:t>distincte</a:t>
            </a:r>
            <a:r>
              <a:rPr lang="en-US" b="1" dirty="0"/>
              <a:t> de </a:t>
            </a:r>
            <a:r>
              <a:rPr lang="en-US" b="1" dirty="0" err="1"/>
              <a:t>câte</a:t>
            </a:r>
            <a:r>
              <a:rPr lang="en-US" b="1" dirty="0"/>
              <a:t> 9x7 </a:t>
            </a:r>
            <a:r>
              <a:rPr lang="en-US" b="1" dirty="0" err="1"/>
              <a:t>pixeli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zonă</a:t>
            </a:r>
            <a:r>
              <a:rPr lang="en-US" dirty="0"/>
              <a:t> </a:t>
            </a:r>
            <a:r>
              <a:rPr lang="en-US" dirty="0" err="1"/>
              <a:t>corespunde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caracter</a:t>
            </a:r>
            <a:r>
              <a:rPr lang="en-US" dirty="0"/>
              <a:t>. </a:t>
            </a:r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apoi</a:t>
            </a:r>
            <a:r>
              <a:rPr lang="en-US" dirty="0"/>
              <a:t> „</a:t>
            </a:r>
            <a:r>
              <a:rPr lang="en-US" dirty="0" err="1"/>
              <a:t>aplatizate</a:t>
            </a:r>
            <a:r>
              <a:rPr lang="en-US" dirty="0"/>
              <a:t>” din </a:t>
            </a:r>
            <a:r>
              <a:rPr lang="en-US" dirty="0" err="1"/>
              <a:t>matrice</a:t>
            </a:r>
            <a:r>
              <a:rPr lang="en-US" dirty="0"/>
              <a:t> 2D în </a:t>
            </a:r>
            <a:r>
              <a:rPr lang="en-US" dirty="0" err="1"/>
              <a:t>vectori</a:t>
            </a:r>
            <a:r>
              <a:rPr lang="en-US" dirty="0"/>
              <a:t> 1D de </a:t>
            </a:r>
            <a:r>
              <a:rPr lang="en-US" dirty="0" err="1"/>
              <a:t>câte</a:t>
            </a:r>
            <a:r>
              <a:rPr lang="en-US" dirty="0"/>
              <a:t> 63 de </a:t>
            </a:r>
            <a:r>
              <a:rPr lang="en-US" dirty="0" err="1"/>
              <a:t>elemente</a:t>
            </a:r>
            <a:r>
              <a:rPr lang="en-US" dirty="0"/>
              <a:t>, </a:t>
            </a:r>
            <a:r>
              <a:rPr lang="en-US" dirty="0" err="1"/>
              <a:t>formând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semnalul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„</a:t>
            </a:r>
            <a:r>
              <a:rPr lang="en-US" dirty="0" err="1"/>
              <a:t>creierul</a:t>
            </a:r>
            <a:r>
              <a:rPr lang="en-US" dirty="0"/>
              <a:t>” </a:t>
            </a:r>
            <a:r>
              <a:rPr lang="en-US" dirty="0" err="1"/>
              <a:t>sistemului</a:t>
            </a:r>
            <a:r>
              <a:rPr lang="en-US" dirty="0"/>
              <a:t>.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23606" y="6264275"/>
            <a:ext cx="4012565" cy="487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3350" spc="-80" dirty="0">
                <a:solidFill>
                  <a:schemeClr val="accent1"/>
                </a:solidFill>
                <a:latin typeface="Arial"/>
                <a:cs typeface="Arial"/>
              </a:rPr>
              <a:t>Pasul</a:t>
            </a:r>
            <a:r>
              <a:rPr sz="3350" spc="-16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3350" spc="-150" dirty="0">
                <a:solidFill>
                  <a:schemeClr val="accent1"/>
                </a:solidFill>
                <a:latin typeface="Arial"/>
                <a:cs typeface="Arial"/>
              </a:rPr>
              <a:t>3:</a:t>
            </a:r>
            <a:r>
              <a:rPr sz="3350" spc="-26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Procesarea</a:t>
            </a:r>
            <a:r>
              <a:rPr lang="en-US" sz="3350" dirty="0">
                <a:solidFill>
                  <a:schemeClr val="accent1"/>
                </a:solidFill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prin</a:t>
            </a:r>
            <a:r>
              <a:rPr lang="en-US" sz="3350" dirty="0">
                <a:solidFill>
                  <a:schemeClr val="accent1"/>
                </a:solidFill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Rețeaua</a:t>
            </a:r>
            <a:r>
              <a:rPr lang="en-US" sz="3350" dirty="0">
                <a:solidFill>
                  <a:schemeClr val="accent1"/>
                </a:solidFill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Neuronală</a:t>
            </a:r>
            <a:r>
              <a:rPr lang="en-US" sz="3350" dirty="0">
                <a:solidFill>
                  <a:schemeClr val="accent1"/>
                </a:solidFill>
              </a:rPr>
              <a:t>:</a:t>
            </a:r>
            <a:endParaRPr sz="335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21000"/>
              </a:lnSpc>
              <a:spcBef>
                <a:spcPts val="1830"/>
              </a:spcBef>
            </a:pPr>
            <a:r>
              <a:rPr lang="en-US" dirty="0"/>
              <a:t>Vectorii </a:t>
            </a:r>
            <a:r>
              <a:rPr lang="en-US" dirty="0" err="1"/>
              <a:t>prelucrați</a:t>
            </a:r>
            <a:r>
              <a:rPr lang="en-US" dirty="0"/>
              <a:t> sunt </a:t>
            </a:r>
            <a:r>
              <a:rPr lang="en-US" dirty="0" err="1"/>
              <a:t>transmiși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rețeaua</a:t>
            </a:r>
            <a:r>
              <a:rPr lang="en-US" dirty="0"/>
              <a:t> </a:t>
            </a:r>
            <a:r>
              <a:rPr lang="en-US" dirty="0" err="1"/>
              <a:t>neuronală</a:t>
            </a:r>
            <a:r>
              <a:rPr lang="en-US" dirty="0"/>
              <a:t> Feed-Forward. </a:t>
            </a:r>
            <a:r>
              <a:rPr lang="en-US" dirty="0" err="1"/>
              <a:t>Folosind</a:t>
            </a:r>
            <a:r>
              <a:rPr lang="en-US" dirty="0"/>
              <a:t> un </a:t>
            </a:r>
            <a:r>
              <a:rPr lang="en-US" dirty="0" err="1"/>
              <a:t>strat</a:t>
            </a:r>
            <a:r>
              <a:rPr lang="en-US" dirty="0"/>
              <a:t> </a:t>
            </a:r>
            <a:r>
              <a:rPr lang="en-US" dirty="0" err="1"/>
              <a:t>ascuns</a:t>
            </a:r>
            <a:r>
              <a:rPr lang="en-US" dirty="0"/>
              <a:t> </a:t>
            </a:r>
            <a:r>
              <a:rPr lang="en-US" dirty="0" err="1"/>
              <a:t>optimizat</a:t>
            </a:r>
            <a:r>
              <a:rPr lang="en-US" dirty="0"/>
              <a:t> cu </a:t>
            </a:r>
            <a:r>
              <a:rPr lang="en-US" b="1" dirty="0"/>
              <a:t>30 de </a:t>
            </a:r>
            <a:r>
              <a:rPr lang="en-US" b="1" dirty="0" err="1"/>
              <a:t>neuroni</a:t>
            </a:r>
            <a:r>
              <a:rPr lang="en-US" dirty="0"/>
              <a:t>,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analizează</a:t>
            </a:r>
            <a:r>
              <a:rPr lang="en-US" dirty="0"/>
              <a:t> </a:t>
            </a:r>
            <a:r>
              <a:rPr lang="en-US" dirty="0" err="1"/>
              <a:t>distribuția</a:t>
            </a:r>
            <a:r>
              <a:rPr lang="en-US" dirty="0"/>
              <a:t> </a:t>
            </a:r>
            <a:r>
              <a:rPr lang="en-US" dirty="0" err="1"/>
              <a:t>pixelilor</a:t>
            </a:r>
            <a:r>
              <a:rPr lang="en-US" dirty="0"/>
              <a:t> și </a:t>
            </a:r>
            <a:r>
              <a:rPr lang="en-US" dirty="0" err="1"/>
              <a:t>identifică</a:t>
            </a:r>
            <a:r>
              <a:rPr lang="en-US" dirty="0"/>
              <a:t> </a:t>
            </a:r>
            <a:r>
              <a:rPr lang="en-US" dirty="0" err="1"/>
              <a:t>trăsăturile</a:t>
            </a:r>
            <a:r>
              <a:rPr lang="en-US" dirty="0"/>
              <a:t> </a:t>
            </a:r>
            <a:r>
              <a:rPr lang="en-US" dirty="0" err="1"/>
              <a:t>geometrice</a:t>
            </a:r>
            <a:r>
              <a:rPr lang="en-US" dirty="0"/>
              <a:t> care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cifrele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literele</a:t>
            </a:r>
            <a:r>
              <a:rPr lang="en-US" dirty="0"/>
              <a:t>, </a:t>
            </a:r>
            <a:r>
              <a:rPr lang="en-US" dirty="0" err="1"/>
              <a:t>bazându</a:t>
            </a:r>
            <a:r>
              <a:rPr lang="en-US" dirty="0"/>
              <a:t>-se pe </a:t>
            </a:r>
            <a:r>
              <a:rPr lang="en-US" dirty="0" err="1"/>
              <a:t>ponderile</a:t>
            </a:r>
            <a:r>
              <a:rPr lang="en-US" dirty="0"/>
              <a:t> </a:t>
            </a:r>
            <a:r>
              <a:rPr lang="en-US" dirty="0" err="1"/>
              <a:t>matematice</a:t>
            </a:r>
            <a:r>
              <a:rPr lang="en-US" dirty="0"/>
              <a:t> </a:t>
            </a:r>
            <a:r>
              <a:rPr lang="en-US" dirty="0" err="1"/>
              <a:t>învățate</a:t>
            </a:r>
            <a:r>
              <a:rPr lang="en-US" dirty="0"/>
              <a:t> în </a:t>
            </a:r>
            <a:r>
              <a:rPr lang="en-US" dirty="0" err="1"/>
              <a:t>faza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sz="2400" dirty="0"/>
              <a:t>.</a:t>
            </a:r>
            <a:endParaRPr lang="en-US" sz="2300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09850" y="3567034"/>
            <a:ext cx="4001135" cy="40363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100"/>
              </a:spcBef>
            </a:pPr>
            <a:r>
              <a:rPr sz="3350" spc="-75" dirty="0">
                <a:solidFill>
                  <a:schemeClr val="accent1"/>
                </a:solidFill>
                <a:latin typeface="Arial"/>
                <a:cs typeface="Arial"/>
              </a:rPr>
              <a:t>Pasul</a:t>
            </a:r>
            <a:r>
              <a:rPr sz="3350" spc="-14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3350" spc="-95" dirty="0">
                <a:solidFill>
                  <a:schemeClr val="accent1"/>
                </a:solidFill>
                <a:latin typeface="Arial"/>
                <a:cs typeface="Arial"/>
              </a:rPr>
              <a:t>4:</a:t>
            </a:r>
            <a:r>
              <a:rPr sz="3350" spc="-36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Afișarea</a:t>
            </a:r>
            <a:r>
              <a:rPr lang="en-US" sz="3350" dirty="0">
                <a:solidFill>
                  <a:schemeClr val="accent1"/>
                </a:solidFill>
              </a:rPr>
              <a:t> </a:t>
            </a:r>
            <a:r>
              <a:rPr lang="en-US" sz="3350" dirty="0" err="1">
                <a:solidFill>
                  <a:schemeClr val="accent1"/>
                </a:solidFill>
              </a:rPr>
              <a:t>Rezultatului</a:t>
            </a:r>
            <a:endParaRPr sz="3350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24600"/>
              </a:lnSpc>
              <a:spcBef>
                <a:spcPts val="1980"/>
              </a:spcBef>
            </a:pPr>
            <a:r>
              <a:rPr lang="en-US" dirty="0"/>
              <a:t>În </a:t>
            </a:r>
            <a:r>
              <a:rPr lang="en-US" dirty="0" err="1"/>
              <a:t>etapa</a:t>
            </a:r>
            <a:r>
              <a:rPr lang="en-US" dirty="0"/>
              <a:t> </a:t>
            </a:r>
            <a:r>
              <a:rPr lang="en-US" dirty="0" err="1"/>
              <a:t>finală</a:t>
            </a:r>
            <a:r>
              <a:rPr lang="en-US" dirty="0"/>
              <a:t>,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matematice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din </a:t>
            </a:r>
            <a:r>
              <a:rPr lang="en-US" dirty="0" err="1"/>
              <a:t>rețea</a:t>
            </a:r>
            <a:r>
              <a:rPr lang="en-US" dirty="0"/>
              <a:t> sunt convertite în </a:t>
            </a:r>
            <a:r>
              <a:rPr lang="en-US" dirty="0" err="1"/>
              <a:t>caractere</a:t>
            </a:r>
            <a:r>
              <a:rPr lang="en-US" dirty="0"/>
              <a:t> </a:t>
            </a:r>
            <a:r>
              <a:rPr lang="en-US" dirty="0" err="1"/>
              <a:t>lizibile</a:t>
            </a:r>
            <a:r>
              <a:rPr lang="en-US" dirty="0"/>
              <a:t>. </a:t>
            </a:r>
            <a:r>
              <a:rPr lang="en-US" dirty="0" err="1"/>
              <a:t>Aplicația</a:t>
            </a:r>
            <a:r>
              <a:rPr lang="en-US" dirty="0"/>
              <a:t> </a:t>
            </a:r>
            <a:r>
              <a:rPr lang="en-US" dirty="0" err="1"/>
              <a:t>afișează</a:t>
            </a:r>
            <a:r>
              <a:rPr lang="en-US" dirty="0"/>
              <a:t> </a:t>
            </a:r>
            <a:r>
              <a:rPr lang="en-US" dirty="0" err="1"/>
              <a:t>instantaneu</a:t>
            </a:r>
            <a:r>
              <a:rPr lang="en-US" dirty="0"/>
              <a:t> pe </a:t>
            </a:r>
            <a:r>
              <a:rPr lang="en-US" dirty="0" err="1"/>
              <a:t>ecran</a:t>
            </a:r>
            <a:r>
              <a:rPr lang="en-US" dirty="0"/>
              <a:t> </a:t>
            </a:r>
            <a:r>
              <a:rPr lang="en-US" dirty="0" err="1"/>
              <a:t>predicția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4 zone </a:t>
            </a:r>
            <a:r>
              <a:rPr lang="en-US" dirty="0" err="1"/>
              <a:t>desenate</a:t>
            </a:r>
            <a:r>
              <a:rPr lang="en-US" dirty="0"/>
              <a:t>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final </a:t>
            </a:r>
            <a:r>
              <a:rPr lang="en-US" dirty="0" err="1"/>
              <a:t>împreună</a:t>
            </a:r>
            <a:r>
              <a:rPr lang="en-US" dirty="0"/>
              <a:t> cu un grad de </a:t>
            </a:r>
            <a:r>
              <a:rPr lang="en-US" dirty="0" err="1"/>
              <a:t>încredere</a:t>
            </a:r>
            <a:r>
              <a:rPr lang="en-US" dirty="0"/>
              <a:t> în </a:t>
            </a:r>
            <a:r>
              <a:rPr lang="en-US" dirty="0" err="1"/>
              <a:t>acuratețea</a:t>
            </a:r>
            <a:r>
              <a:rPr lang="en-US" dirty="0"/>
              <a:t> </a:t>
            </a:r>
            <a:r>
              <a:rPr lang="en-US" dirty="0" err="1"/>
              <a:t>identificării</a:t>
            </a:r>
            <a:r>
              <a:rPr lang="en-US" dirty="0"/>
              <a:t>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097" y="773271"/>
            <a:ext cx="7917180" cy="95026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marR="5080" indent="17780">
              <a:lnSpc>
                <a:spcPts val="6180"/>
              </a:lnSpc>
              <a:spcBef>
                <a:spcPts val="1210"/>
              </a:spcBef>
            </a:pPr>
            <a:r>
              <a:rPr lang="en-US" sz="6050" spc="-484" dirty="0">
                <a:solidFill>
                  <a:srgbClr val="054F77"/>
                </a:solidFill>
              </a:rPr>
              <a:t>6</a:t>
            </a:r>
            <a:r>
              <a:rPr sz="6050" spc="-484" dirty="0">
                <a:solidFill>
                  <a:srgbClr val="054F77"/>
                </a:solidFill>
              </a:rPr>
              <a:t>.</a:t>
            </a:r>
            <a:r>
              <a:rPr sz="6050" spc="-944" dirty="0">
                <a:solidFill>
                  <a:srgbClr val="054F77"/>
                </a:solidFill>
              </a:rPr>
              <a:t> </a:t>
            </a:r>
            <a:r>
              <a:rPr sz="6050" spc="-10" dirty="0" err="1">
                <a:solidFill>
                  <a:srgbClr val="004F85"/>
                </a:solidFill>
              </a:rPr>
              <a:t>Fluxul</a:t>
            </a:r>
            <a:r>
              <a:rPr lang="en-US" sz="6050" spc="-640" dirty="0">
                <a:solidFill>
                  <a:srgbClr val="004F85"/>
                </a:solidFill>
              </a:rPr>
              <a:t> </a:t>
            </a:r>
            <a:r>
              <a:rPr sz="6050" spc="-475" dirty="0">
                <a:solidFill>
                  <a:srgbClr val="004F82"/>
                </a:solidFill>
              </a:rPr>
              <a:t>de</a:t>
            </a:r>
            <a:r>
              <a:rPr lang="en-US" sz="6050" spc="-730" dirty="0">
                <a:solidFill>
                  <a:srgbClr val="004F82"/>
                </a:solidFill>
              </a:rPr>
              <a:t> </a:t>
            </a:r>
            <a:r>
              <a:rPr sz="6050" spc="-420" dirty="0">
                <a:solidFill>
                  <a:srgbClr val="034F82"/>
                </a:solidFill>
              </a:rPr>
              <a:t>Date</a:t>
            </a:r>
            <a:endParaRPr sz="6050" dirty="0"/>
          </a:p>
        </p:txBody>
      </p:sp>
      <p:sp>
        <p:nvSpPr>
          <p:cNvPr id="3" name="object 3"/>
          <p:cNvSpPr txBox="1"/>
          <p:nvPr/>
        </p:nvSpPr>
        <p:spPr>
          <a:xfrm>
            <a:off x="897417" y="2993753"/>
            <a:ext cx="6245860" cy="14375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Captarea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 (Input):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Interfața</a:t>
            </a:r>
            <a:r>
              <a:rPr lang="en-US" dirty="0"/>
              <a:t> om-</a:t>
            </a:r>
            <a:r>
              <a:rPr lang="en-US" dirty="0" err="1"/>
              <a:t>mașină</a:t>
            </a:r>
            <a:r>
              <a:rPr lang="en-US" dirty="0"/>
              <a:t>: Matrice </a:t>
            </a:r>
            <a:r>
              <a:rPr lang="en-US" dirty="0" err="1"/>
              <a:t>Booleană</a:t>
            </a:r>
            <a:r>
              <a:rPr lang="en-US" dirty="0"/>
              <a:t> de </a:t>
            </a:r>
            <a:r>
              <a:rPr lang="en-US" b="1" dirty="0"/>
              <a:t>9x28 </a:t>
            </a:r>
            <a:r>
              <a:rPr lang="en-US" b="1" dirty="0" err="1"/>
              <a:t>pixeli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Utilizatorul</a:t>
            </a:r>
            <a:r>
              <a:rPr lang="en-US" dirty="0"/>
              <a:t> </a:t>
            </a:r>
            <a:r>
              <a:rPr lang="en-US" dirty="0" err="1"/>
              <a:t>desenează</a:t>
            </a:r>
            <a:r>
              <a:rPr lang="en-US" dirty="0"/>
              <a:t> </a:t>
            </a:r>
            <a:r>
              <a:rPr lang="en-US" dirty="0" err="1"/>
              <a:t>caracterele</a:t>
            </a:r>
            <a:r>
              <a:rPr lang="en-US" dirty="0"/>
              <a:t> direct pe Front Panel.</a:t>
            </a:r>
          </a:p>
          <a:p>
            <a:pPr marL="12700">
              <a:lnSpc>
                <a:spcPts val="5535"/>
              </a:lnSpc>
              <a:spcBef>
                <a:spcPts val="95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275" y="4537109"/>
            <a:ext cx="8353425" cy="1615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Preprocesare</a:t>
            </a:r>
            <a:r>
              <a:rPr lang="en-US" b="1" dirty="0"/>
              <a:t> și </a:t>
            </a:r>
            <a:r>
              <a:rPr lang="en-US" b="1" dirty="0" err="1"/>
              <a:t>Segmentare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Divizarea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a </a:t>
            </a:r>
            <a:r>
              <a:rPr lang="en-US" dirty="0" err="1"/>
              <a:t>grilei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în </a:t>
            </a:r>
            <a:r>
              <a:rPr lang="en-US" b="1" dirty="0"/>
              <a:t>4 sub-</a:t>
            </a:r>
            <a:r>
              <a:rPr lang="en-US" b="1" dirty="0" err="1"/>
              <a:t>matrici</a:t>
            </a:r>
            <a:r>
              <a:rPr lang="en-US" b="1" dirty="0"/>
              <a:t> de 9x7 </a:t>
            </a:r>
            <a:r>
              <a:rPr lang="en-US" b="1" dirty="0" err="1"/>
              <a:t>pixeli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Vectorizare</a:t>
            </a:r>
            <a:r>
              <a:rPr lang="en-US" b="1" dirty="0"/>
              <a:t> (Flattening):</a:t>
            </a:r>
            <a:r>
              <a:rPr lang="en-US" dirty="0"/>
              <a:t> </a:t>
            </a:r>
            <a:r>
              <a:rPr lang="en-US" dirty="0" err="1"/>
              <a:t>Transformarea</a:t>
            </a:r>
            <a:r>
              <a:rPr lang="en-US" dirty="0"/>
              <a:t> </a:t>
            </a:r>
            <a:r>
              <a:rPr lang="en-US" dirty="0" err="1"/>
              <a:t>matricii</a:t>
            </a:r>
            <a:r>
              <a:rPr lang="en-US" dirty="0"/>
              <a:t> 2D în </a:t>
            </a:r>
            <a:r>
              <a:rPr lang="en-US" dirty="0" err="1"/>
              <a:t>vectori</a:t>
            </a:r>
            <a:r>
              <a:rPr lang="en-US" dirty="0"/>
              <a:t> 1D de </a:t>
            </a:r>
            <a:r>
              <a:rPr lang="en-US" b="1" dirty="0"/>
              <a:t>63 de </a:t>
            </a:r>
            <a:r>
              <a:rPr lang="en-US" b="1" dirty="0" err="1"/>
              <a:t>elemente</a:t>
            </a:r>
            <a:r>
              <a:rPr lang="en-US" dirty="0"/>
              <a:t> (</a:t>
            </a:r>
            <a:r>
              <a:rPr lang="en-US" dirty="0" err="1"/>
              <a:t>necesari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al </a:t>
            </a:r>
            <a:r>
              <a:rPr lang="en-US" dirty="0" err="1"/>
              <a:t>rețelei</a:t>
            </a:r>
            <a:r>
              <a:rPr lang="en-US" dirty="0"/>
              <a:t>).</a:t>
            </a:r>
          </a:p>
          <a:p>
            <a:pPr marL="48260">
              <a:lnSpc>
                <a:spcPct val="100000"/>
              </a:lnSpc>
              <a:spcBef>
                <a:spcPts val="1685"/>
              </a:spcBef>
            </a:pP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0E7F254-E2B1-096B-0DD6-3D9D52E5E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464C58C4-5359-C4C1-299E-2295B9A7F012}"/>
              </a:ext>
            </a:extLst>
          </p:cNvPr>
          <p:cNvSpPr txBox="1"/>
          <p:nvPr/>
        </p:nvSpPr>
        <p:spPr>
          <a:xfrm>
            <a:off x="897417" y="6258719"/>
            <a:ext cx="8621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Inferența</a:t>
            </a:r>
            <a:r>
              <a:rPr lang="en-US" b="1" dirty="0"/>
              <a:t> </a:t>
            </a:r>
            <a:r>
              <a:rPr lang="en-US" b="1" dirty="0" err="1"/>
              <a:t>Rețelei</a:t>
            </a:r>
            <a:r>
              <a:rPr lang="en-US" b="1" dirty="0"/>
              <a:t> </a:t>
            </a:r>
            <a:r>
              <a:rPr lang="en-US" b="1" dirty="0" err="1"/>
              <a:t>Neuronale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Încărcarea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antrenat</a:t>
            </a:r>
            <a:r>
              <a:rPr lang="en-US" dirty="0"/>
              <a:t> (</a:t>
            </a:r>
            <a:r>
              <a:rPr lang="en-US" b="1" dirty="0" err="1"/>
              <a:t>trained_model.bin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b="1" dirty="0"/>
              <a:t>30 de </a:t>
            </a:r>
            <a:r>
              <a:rPr lang="en-US" b="1" dirty="0" err="1"/>
              <a:t>puncte</a:t>
            </a:r>
            <a:r>
              <a:rPr lang="en-US" b="1" dirty="0"/>
              <a:t> de </a:t>
            </a:r>
            <a:r>
              <a:rPr lang="en-US" b="1" dirty="0" err="1"/>
              <a:t>procesare</a:t>
            </a:r>
            <a:r>
              <a:rPr lang="en-US" b="1" dirty="0"/>
              <a:t> (</a:t>
            </a:r>
            <a:r>
              <a:rPr lang="en-US" b="1" dirty="0" err="1"/>
              <a:t>neuroni</a:t>
            </a:r>
            <a:r>
              <a:rPr lang="en-US" b="1" dirty="0"/>
              <a:t>)</a:t>
            </a:r>
            <a:r>
              <a:rPr lang="en-US" dirty="0"/>
              <a:t> din </a:t>
            </a:r>
            <a:r>
              <a:rPr lang="en-US" dirty="0" err="1"/>
              <a:t>stratul</a:t>
            </a:r>
            <a:r>
              <a:rPr lang="en-US" dirty="0"/>
              <a:t> </a:t>
            </a:r>
            <a:r>
              <a:rPr lang="en-US" dirty="0" err="1"/>
              <a:t>ascuns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Calcularea</a:t>
            </a:r>
            <a:r>
              <a:rPr lang="en-US" dirty="0"/>
              <a:t> </a:t>
            </a:r>
            <a:r>
              <a:rPr lang="en-US" dirty="0" err="1"/>
              <a:t>probabilității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caracter</a:t>
            </a:r>
            <a:r>
              <a:rPr lang="en-US" dirty="0"/>
              <a:t> (Calculate Response).</a:t>
            </a:r>
          </a:p>
          <a:p>
            <a:endParaRPr lang="en-US" dirty="0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4C4567A0-79CB-6AD7-BA7A-69D4A2322810}"/>
              </a:ext>
            </a:extLst>
          </p:cNvPr>
          <p:cNvSpPr txBox="1"/>
          <p:nvPr/>
        </p:nvSpPr>
        <p:spPr>
          <a:xfrm>
            <a:off x="919096" y="7841830"/>
            <a:ext cx="9361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Rezultatul</a:t>
            </a:r>
            <a:r>
              <a:rPr lang="en-US" b="1" dirty="0"/>
              <a:t> Final (Output):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 din </a:t>
            </a:r>
            <a:r>
              <a:rPr lang="en-US" dirty="0" err="1"/>
              <a:t>rețea</a:t>
            </a:r>
            <a:r>
              <a:rPr lang="en-US" dirty="0"/>
              <a:t> în </a:t>
            </a:r>
            <a:r>
              <a:rPr lang="en-US" dirty="0" err="1"/>
              <a:t>caractere</a:t>
            </a:r>
            <a:r>
              <a:rPr lang="en-US" dirty="0"/>
              <a:t> ASCII.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Afișarea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4 </a:t>
            </a:r>
            <a:r>
              <a:rPr lang="en-US" dirty="0" err="1"/>
              <a:t>predicții</a:t>
            </a:r>
            <a:r>
              <a:rPr lang="en-US" dirty="0"/>
              <a:t> și a </a:t>
            </a:r>
            <a:r>
              <a:rPr lang="en-US" dirty="0" err="1"/>
              <a:t>gradului</a:t>
            </a:r>
            <a:r>
              <a:rPr lang="en-US" dirty="0"/>
              <a:t> de </a:t>
            </a:r>
            <a:r>
              <a:rPr lang="en-US" dirty="0" err="1"/>
              <a:t>încredere</a:t>
            </a:r>
            <a:r>
              <a:rPr lang="en-US" dirty="0"/>
              <a:t> (</a:t>
            </a:r>
            <a:r>
              <a:rPr lang="en-US" b="1" dirty="0"/>
              <a:t>Confidence</a:t>
            </a:r>
            <a:r>
              <a:rPr lang="en-US" dirty="0"/>
              <a:t>) în </a:t>
            </a:r>
            <a:r>
              <a:rPr lang="en-US" dirty="0" err="1"/>
              <a:t>interfața</a:t>
            </a:r>
            <a:r>
              <a:rPr lang="en-US" dirty="0"/>
              <a:t> </a:t>
            </a:r>
            <a:r>
              <a:rPr lang="en-US" dirty="0" err="1"/>
              <a:t>utilizatorului</a:t>
            </a:r>
            <a:r>
              <a:rPr lang="en-US" dirty="0"/>
              <a:t>.</a:t>
            </a:r>
          </a:p>
        </p:txBody>
      </p:sp>
      <p:pic>
        <p:nvPicPr>
          <p:cNvPr id="10" name="Imagine 9" descr="O imagine care conține tex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C244C5E8-8E81-1ACF-5586-1EE3C7231F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51"/>
          <a:stretch>
            <a:fillRect/>
          </a:stretch>
        </p:blipFill>
        <p:spPr>
          <a:xfrm>
            <a:off x="10287551" y="320675"/>
            <a:ext cx="8994557" cy="10818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450104-E286-33C5-76E3-C89CDFC4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05" y="773271"/>
            <a:ext cx="11879580" cy="1892826"/>
          </a:xfrm>
        </p:spPr>
        <p:txBody>
          <a:bodyPr/>
          <a:lstStyle/>
          <a:p>
            <a:r>
              <a:rPr lang="en-US" dirty="0"/>
              <a:t>7. </a:t>
            </a:r>
            <a:r>
              <a:rPr lang="it-IT" dirty="0"/>
              <a:t>Integrare IoT și Monitorizare la Distanță (Web Service)</a:t>
            </a:r>
            <a:endParaRPr lang="en-US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600ECA6F-092B-AA7B-E9F2-1EE2545DCCE2}"/>
              </a:ext>
            </a:extLst>
          </p:cNvPr>
          <p:cNvSpPr txBox="1"/>
          <p:nvPr/>
        </p:nvSpPr>
        <p:spPr>
          <a:xfrm>
            <a:off x="922605" y="3749675"/>
            <a:ext cx="12406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Obiectivul</a:t>
            </a:r>
            <a:r>
              <a:rPr lang="en-US" b="1" dirty="0"/>
              <a:t> </a:t>
            </a:r>
            <a:r>
              <a:rPr lang="en-US" b="1" dirty="0" err="1"/>
              <a:t>Modulului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functionalitatii</a:t>
            </a:r>
            <a:r>
              <a:rPr lang="en-US" dirty="0"/>
              <a:t> stand-alone (Desktop) </a:t>
            </a:r>
            <a:r>
              <a:rPr lang="en-US" dirty="0" err="1"/>
              <a:t>catre</a:t>
            </a:r>
            <a:r>
              <a:rPr lang="en-US" dirty="0"/>
              <a:t> o </a:t>
            </a:r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distribuita</a:t>
            </a:r>
            <a:r>
              <a:rPr lang="en-US" dirty="0"/>
              <a:t> de tip </a:t>
            </a:r>
            <a:r>
              <a:rPr lang="en-US" b="1" dirty="0"/>
              <a:t>Industry 4.0</a:t>
            </a:r>
            <a:r>
              <a:rPr lang="en-US" dirty="0"/>
              <a:t>.</a:t>
            </a:r>
          </a:p>
          <a:p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monitorizarea</a:t>
            </a:r>
            <a:r>
              <a:rPr lang="en-US" dirty="0"/>
              <a:t> in </a:t>
            </a:r>
            <a:r>
              <a:rPr lang="en-US" dirty="0" err="1"/>
              <a:t>timp</a:t>
            </a:r>
            <a:r>
              <a:rPr lang="en-US" dirty="0"/>
              <a:t> real a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inferentă</a:t>
            </a:r>
            <a:r>
              <a:rPr lang="en-US" dirty="0"/>
              <a:t> de pe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dispozitiv</a:t>
            </a:r>
            <a:r>
              <a:rPr lang="en-US" dirty="0"/>
              <a:t> </a:t>
            </a:r>
            <a:r>
              <a:rPr lang="en-US" dirty="0" err="1"/>
              <a:t>conectat</a:t>
            </a:r>
            <a:r>
              <a:rPr lang="en-US" dirty="0"/>
              <a:t> la </a:t>
            </a:r>
            <a:r>
              <a:rPr lang="en-US" dirty="0" err="1"/>
              <a:t>rețea</a:t>
            </a:r>
            <a:r>
              <a:rPr lang="en-US" dirty="0"/>
              <a:t> (PC, </a:t>
            </a:r>
            <a:r>
              <a:rPr lang="en-US" dirty="0" err="1"/>
              <a:t>Tableta</a:t>
            </a:r>
            <a:r>
              <a:rPr lang="en-US" dirty="0"/>
              <a:t>, Smartphone), </a:t>
            </a:r>
            <a:r>
              <a:rPr lang="en-US" dirty="0" err="1"/>
              <a:t>fara</a:t>
            </a:r>
            <a:r>
              <a:rPr lang="en-US" dirty="0"/>
              <a:t> a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instalarea</a:t>
            </a:r>
            <a:r>
              <a:rPr lang="en-US" dirty="0"/>
              <a:t> LabVIEW pe client.</a:t>
            </a:r>
          </a:p>
          <a:p>
            <a:endParaRPr lang="en-US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0786B8A0-4751-4B72-6374-8E91D9006AD0}"/>
              </a:ext>
            </a:extLst>
          </p:cNvPr>
          <p:cNvSpPr txBox="1"/>
          <p:nvPr/>
        </p:nvSpPr>
        <p:spPr>
          <a:xfrm>
            <a:off x="922605" y="5364639"/>
            <a:ext cx="131680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Implementare</a:t>
            </a:r>
            <a:r>
              <a:rPr lang="en-US" b="1" dirty="0"/>
              <a:t> </a:t>
            </a:r>
            <a:r>
              <a:rPr lang="en-US" b="1" dirty="0" err="1"/>
              <a:t>Tehnica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/>
              <a:t>Protocol:</a:t>
            </a:r>
            <a:r>
              <a:rPr lang="en-US" dirty="0"/>
              <a:t> HTTP/1.1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b="1" dirty="0"/>
              <a:t>GET</a:t>
            </a:r>
            <a:r>
              <a:rPr lang="en-US" dirty="0"/>
              <a:t> (Server LabVIEW pe </a:t>
            </a:r>
            <a:r>
              <a:rPr lang="en-US" dirty="0" err="1"/>
              <a:t>portul</a:t>
            </a:r>
            <a:r>
              <a:rPr lang="en-US" dirty="0"/>
              <a:t> 80/8001).</a:t>
            </a:r>
          </a:p>
          <a:p>
            <a:r>
              <a:rPr lang="en-US" b="1" dirty="0"/>
              <a:t>Backend (TestAPI.vi):</a:t>
            </a:r>
            <a:r>
              <a:rPr lang="en-US" dirty="0"/>
              <a:t> Functioneaza </a:t>
            </a:r>
            <a:r>
              <a:rPr lang="en-US" dirty="0" err="1"/>
              <a:t>asincron</a:t>
            </a:r>
            <a:r>
              <a:rPr lang="en-US" dirty="0"/>
              <a:t> fata de </a:t>
            </a:r>
            <a:r>
              <a:rPr lang="en-US" dirty="0" err="1"/>
              <a:t>bucla</a:t>
            </a:r>
            <a:r>
              <a:rPr lang="en-US" dirty="0"/>
              <a:t> </a:t>
            </a:r>
            <a:r>
              <a:rPr lang="en-US" dirty="0" err="1"/>
              <a:t>principala</a:t>
            </a:r>
            <a:r>
              <a:rPr lang="en-US" dirty="0"/>
              <a:t>, </a:t>
            </a:r>
            <a:r>
              <a:rPr lang="en-US" dirty="0" err="1"/>
              <a:t>citind</a:t>
            </a:r>
            <a:r>
              <a:rPr lang="en-US" dirty="0"/>
              <a:t> </a:t>
            </a:r>
            <a:r>
              <a:rPr lang="en-US" dirty="0" err="1"/>
              <a:t>ultimele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validate din </a:t>
            </a:r>
            <a:r>
              <a:rPr lang="en-US" dirty="0" err="1"/>
              <a:t>Variabilele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.</a:t>
            </a:r>
          </a:p>
          <a:p>
            <a:r>
              <a:rPr lang="en-US" b="1" dirty="0" err="1"/>
              <a:t>Serializarea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Convertirea</a:t>
            </a:r>
            <a:r>
              <a:rPr lang="en-US" dirty="0"/>
              <a:t> </a:t>
            </a:r>
            <a:r>
              <a:rPr lang="en-US" dirty="0" err="1"/>
              <a:t>matricei</a:t>
            </a:r>
            <a:r>
              <a:rPr lang="en-US" dirty="0"/>
              <a:t> </a:t>
            </a:r>
            <a:r>
              <a:rPr lang="en-US" dirty="0" err="1"/>
              <a:t>bidimensionale</a:t>
            </a:r>
            <a:r>
              <a:rPr lang="en-US" dirty="0"/>
              <a:t> (</a:t>
            </a:r>
            <a:r>
              <a:rPr lang="en-US" dirty="0" err="1"/>
              <a:t>imaginea</a:t>
            </a:r>
            <a:r>
              <a:rPr lang="en-US" dirty="0"/>
              <a:t> </a:t>
            </a:r>
            <a:r>
              <a:rPr lang="en-US" dirty="0" err="1"/>
              <a:t>scanata</a:t>
            </a:r>
            <a:r>
              <a:rPr lang="en-US" dirty="0"/>
              <a:t>) </a:t>
            </a:r>
            <a:r>
              <a:rPr lang="en-US" dirty="0" err="1"/>
              <a:t>intr</a:t>
            </a:r>
            <a:r>
              <a:rPr lang="en-US" dirty="0"/>
              <a:t>-un flux unidimensional (1D Stream).</a:t>
            </a:r>
          </a:p>
          <a:p>
            <a:pPr lvl="1"/>
            <a:r>
              <a:rPr lang="en-US" dirty="0" err="1"/>
              <a:t>Concatenarea</a:t>
            </a:r>
            <a:r>
              <a:rPr lang="en-US" dirty="0"/>
              <a:t> </a:t>
            </a:r>
            <a:r>
              <a:rPr lang="en-US" dirty="0" err="1"/>
              <a:t>rezultatului</a:t>
            </a:r>
            <a:r>
              <a:rPr lang="en-US" dirty="0"/>
              <a:t> </a:t>
            </a:r>
            <a:r>
              <a:rPr lang="en-US" dirty="0" err="1"/>
              <a:t>predictiei</a:t>
            </a:r>
            <a:r>
              <a:rPr lang="en-US" dirty="0"/>
              <a:t> cu </a:t>
            </a:r>
            <a:r>
              <a:rPr lang="en-US" dirty="0" err="1"/>
              <a:t>harta</a:t>
            </a:r>
            <a:r>
              <a:rPr lang="en-US" dirty="0"/>
              <a:t> </a:t>
            </a:r>
            <a:r>
              <a:rPr lang="en-US" dirty="0" err="1"/>
              <a:t>pixelilor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format text (String).</a:t>
            </a:r>
          </a:p>
          <a:p>
            <a:endParaRPr lang="en-US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0D43F17C-BD73-8C98-93E2-0F128FCCCD74}"/>
              </a:ext>
            </a:extLst>
          </p:cNvPr>
          <p:cNvSpPr txBox="1"/>
          <p:nvPr/>
        </p:nvSpPr>
        <p:spPr>
          <a:xfrm>
            <a:off x="922604" y="7395964"/>
            <a:ext cx="12558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Detaliu</a:t>
            </a:r>
            <a:r>
              <a:rPr lang="en-US" b="1" dirty="0"/>
              <a:t> de </a:t>
            </a:r>
            <a:r>
              <a:rPr lang="en-US" b="1" dirty="0" err="1"/>
              <a:t>Finete</a:t>
            </a:r>
            <a:r>
              <a:rPr lang="en-US" b="1" dirty="0"/>
              <a:t> (</a:t>
            </a:r>
            <a:r>
              <a:rPr lang="en-US" b="1" dirty="0" err="1"/>
              <a:t>Integritate</a:t>
            </a:r>
            <a:r>
              <a:rPr lang="en-US" b="1" dirty="0"/>
              <a:t>):</a:t>
            </a:r>
            <a:endParaRPr lang="en-US" dirty="0"/>
          </a:p>
          <a:p>
            <a:r>
              <a:rPr lang="en-US" dirty="0" err="1"/>
              <a:t>Fluxul</a:t>
            </a:r>
            <a:r>
              <a:rPr lang="en-US" dirty="0"/>
              <a:t> de date se termina cu </a:t>
            </a:r>
            <a:r>
              <a:rPr lang="en-US" b="1" dirty="0"/>
              <a:t>„</a:t>
            </a:r>
            <a:r>
              <a:rPr lang="en-US" b="1" dirty="0" err="1"/>
              <a:t>Pixelul</a:t>
            </a:r>
            <a:r>
              <a:rPr lang="en-US" b="1" dirty="0"/>
              <a:t> Critic”</a:t>
            </a:r>
            <a:r>
              <a:rPr lang="en-US" dirty="0"/>
              <a:t> (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 </a:t>
            </a:r>
            <a:r>
              <a:rPr lang="en-US" dirty="0" err="1"/>
              <a:t>coltului</a:t>
            </a:r>
            <a:r>
              <a:rPr lang="en-US" dirty="0"/>
              <a:t> </a:t>
            </a:r>
            <a:r>
              <a:rPr lang="en-US" dirty="0" err="1"/>
              <a:t>dreapta-jos</a:t>
            </a:r>
            <a:r>
              <a:rPr lang="en-US" dirty="0"/>
              <a:t> al </a:t>
            </a:r>
            <a:r>
              <a:rPr lang="en-US" dirty="0" err="1"/>
              <a:t>grilei</a:t>
            </a:r>
            <a:r>
              <a:rPr lang="en-US" dirty="0"/>
              <a:t>). </a:t>
            </a:r>
            <a:r>
              <a:rPr lang="en-US" dirty="0" err="1"/>
              <a:t>Prezenta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confirma</a:t>
            </a:r>
            <a:r>
              <a:rPr lang="en-US" dirty="0"/>
              <a:t> </a:t>
            </a:r>
            <a:r>
              <a:rPr lang="en-US" dirty="0" err="1"/>
              <a:t>integritatea</a:t>
            </a:r>
            <a:r>
              <a:rPr lang="en-US" dirty="0"/>
              <a:t> </a:t>
            </a:r>
            <a:r>
              <a:rPr lang="en-US" dirty="0" err="1"/>
              <a:t>pachetului</a:t>
            </a:r>
            <a:r>
              <a:rPr lang="en-US" dirty="0"/>
              <a:t> de date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finalizarea</a:t>
            </a:r>
            <a:r>
              <a:rPr lang="en-US" dirty="0"/>
              <a:t> cu </a:t>
            </a:r>
            <a:r>
              <a:rPr lang="en-US" dirty="0" err="1"/>
              <a:t>succes</a:t>
            </a:r>
            <a:r>
              <a:rPr lang="en-US" dirty="0"/>
              <a:t> a </a:t>
            </a:r>
            <a:r>
              <a:rPr lang="en-US" dirty="0" err="1"/>
              <a:t>transmisiei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74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B5CDDA-2045-A28D-08FA-5D3272BA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DA2505-BC83-A022-1C69-92D58CCDA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605" y="773271"/>
            <a:ext cx="11879580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lang="en-US" sz="5800" spc="-180" dirty="0">
                <a:solidFill>
                  <a:srgbClr val="004F8A"/>
                </a:solidFill>
              </a:rPr>
              <a:t>8</a:t>
            </a:r>
            <a:r>
              <a:rPr sz="5800" spc="-180" dirty="0">
                <a:solidFill>
                  <a:srgbClr val="004F8A"/>
                </a:solidFill>
              </a:rPr>
              <a:t>.</a:t>
            </a:r>
            <a:r>
              <a:rPr sz="5800" spc="-635" dirty="0">
                <a:solidFill>
                  <a:srgbClr val="004F8A"/>
                </a:solidFill>
              </a:rPr>
              <a:t> </a:t>
            </a:r>
            <a:r>
              <a:rPr sz="5800" spc="-70" dirty="0">
                <a:solidFill>
                  <a:srgbClr val="005693"/>
                </a:solidFill>
              </a:rPr>
              <a:t>Specifica</a:t>
            </a:r>
            <a:r>
              <a:rPr lang="en-US" sz="5800" spc="-70" dirty="0">
                <a:solidFill>
                  <a:srgbClr val="005693"/>
                </a:solidFill>
              </a:rPr>
              <a:t>t</a:t>
            </a:r>
            <a:r>
              <a:rPr sz="5800" spc="-70" dirty="0">
                <a:solidFill>
                  <a:srgbClr val="005693"/>
                </a:solidFill>
              </a:rPr>
              <a:t>ii</a:t>
            </a:r>
            <a:r>
              <a:rPr sz="5800" spc="-315" dirty="0">
                <a:solidFill>
                  <a:srgbClr val="005693"/>
                </a:solidFill>
              </a:rPr>
              <a:t> </a:t>
            </a:r>
            <a:r>
              <a:rPr lang="en-US" sz="5800" spc="165" dirty="0" err="1">
                <a:solidFill>
                  <a:srgbClr val="004679"/>
                </a:solidFill>
              </a:rPr>
              <a:t>s</a:t>
            </a:r>
            <a:r>
              <a:rPr sz="5800" spc="165" dirty="0" err="1">
                <a:solidFill>
                  <a:srgbClr val="004679"/>
                </a:solidFill>
              </a:rPr>
              <a:t>i</a:t>
            </a:r>
            <a:r>
              <a:rPr sz="5800" spc="-755" dirty="0">
                <a:solidFill>
                  <a:srgbClr val="004679"/>
                </a:solidFill>
              </a:rPr>
              <a:t> </a:t>
            </a:r>
            <a:r>
              <a:rPr sz="5800" spc="-10" dirty="0">
                <a:solidFill>
                  <a:srgbClr val="00528C"/>
                </a:solidFill>
              </a:rPr>
              <a:t>Tehnologii</a:t>
            </a:r>
            <a:endParaRPr sz="58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64CBC6-50CF-56FC-6328-669C016732E2}"/>
              </a:ext>
            </a:extLst>
          </p:cNvPr>
          <p:cNvSpPr txBox="1"/>
          <p:nvPr/>
        </p:nvSpPr>
        <p:spPr>
          <a:xfrm>
            <a:off x="1298185" y="3618080"/>
            <a:ext cx="202946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0579A"/>
                </a:solidFill>
                <a:latin typeface="Arial"/>
                <a:cs typeface="Arial"/>
              </a:rPr>
              <a:t>Component</a:t>
            </a:r>
            <a:r>
              <a:rPr lang="en-US" sz="2550" spc="100" dirty="0">
                <a:solidFill>
                  <a:srgbClr val="00579A"/>
                </a:solidFill>
                <a:latin typeface="Arial"/>
                <a:cs typeface="Arial"/>
              </a:rPr>
              <a:t>a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BA29C08-B0CD-6965-F486-BCC8013299C6}"/>
              </a:ext>
            </a:extLst>
          </p:cNvPr>
          <p:cNvSpPr txBox="1"/>
          <p:nvPr/>
        </p:nvSpPr>
        <p:spPr>
          <a:xfrm>
            <a:off x="1297091" y="4615431"/>
            <a:ext cx="263842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70" dirty="0">
                <a:solidFill>
                  <a:srgbClr val="161616"/>
                </a:solidFill>
                <a:latin typeface="Arial"/>
                <a:cs typeface="Arial"/>
              </a:rPr>
              <a:t>Date</a:t>
            </a:r>
            <a:r>
              <a:rPr sz="2550" spc="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550" spc="-140" dirty="0">
                <a:latin typeface="Arial"/>
                <a:cs typeface="Arial"/>
              </a:rPr>
              <a:t>de</a:t>
            </a:r>
            <a:r>
              <a:rPr sz="2550" spc="-190" dirty="0">
                <a:latin typeface="Arial"/>
                <a:cs typeface="Arial"/>
              </a:rPr>
              <a:t> </a:t>
            </a:r>
            <a:r>
              <a:rPr sz="2550" spc="-95" dirty="0">
                <a:solidFill>
                  <a:srgbClr val="0E0E0E"/>
                </a:solidFill>
                <a:latin typeface="Arial"/>
                <a:cs typeface="Arial"/>
              </a:rPr>
              <a:t>Intrare</a:t>
            </a:r>
            <a:r>
              <a:rPr sz="255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550" spc="-165" dirty="0">
                <a:solidFill>
                  <a:srgbClr val="151515"/>
                </a:solidFill>
                <a:latin typeface="Arial"/>
                <a:cs typeface="Arial"/>
              </a:rPr>
              <a:t>(RN)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1ACB28-47E8-183A-10F3-027723099BB2}"/>
              </a:ext>
            </a:extLst>
          </p:cNvPr>
          <p:cNvSpPr txBox="1"/>
          <p:nvPr/>
        </p:nvSpPr>
        <p:spPr>
          <a:xfrm>
            <a:off x="1299615" y="5661211"/>
            <a:ext cx="246316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161616"/>
                </a:solidFill>
                <a:latin typeface="Arial"/>
                <a:cs typeface="Arial"/>
              </a:rPr>
              <a:t>Date</a:t>
            </a:r>
            <a:r>
              <a:rPr sz="2300" spc="-4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10" dirty="0" err="1">
                <a:solidFill>
                  <a:srgbClr val="0E0E0E"/>
                </a:solidFill>
                <a:latin typeface="Arial"/>
                <a:cs typeface="Arial"/>
              </a:rPr>
              <a:t>le</a:t>
            </a:r>
            <a:r>
              <a:rPr lang="en-US" sz="2300" spc="-10" dirty="0" err="1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2300" spc="-10" dirty="0" err="1">
                <a:solidFill>
                  <a:srgbClr val="0E0E0E"/>
                </a:solidFill>
                <a:latin typeface="Arial"/>
                <a:cs typeface="Arial"/>
              </a:rPr>
              <a:t>ire</a:t>
            </a:r>
            <a:r>
              <a:rPr sz="2300" spc="-8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0F0F0F"/>
                </a:solidFill>
                <a:latin typeface="Arial"/>
                <a:cs typeface="Arial"/>
              </a:rPr>
              <a:t>(RN)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30C6CF-B7A5-1603-3F23-3D7289DF5282}"/>
              </a:ext>
            </a:extLst>
          </p:cNvPr>
          <p:cNvSpPr txBox="1"/>
          <p:nvPr/>
        </p:nvSpPr>
        <p:spPr>
          <a:xfrm>
            <a:off x="1299567" y="6650056"/>
            <a:ext cx="288544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0" dirty="0">
                <a:solidFill>
                  <a:srgbClr val="111111"/>
                </a:solidFill>
                <a:latin typeface="Arial"/>
                <a:cs typeface="Arial"/>
              </a:rPr>
              <a:t>Limbaj</a:t>
            </a:r>
            <a:r>
              <a:rPr sz="245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50" spc="-85" dirty="0">
                <a:solidFill>
                  <a:srgbClr val="0F0F0F"/>
                </a:solidFill>
                <a:latin typeface="Arial"/>
                <a:cs typeface="Arial"/>
              </a:rPr>
              <a:t>de</a:t>
            </a:r>
            <a:r>
              <a:rPr sz="2450" spc="-1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2450" spc="-80" dirty="0">
                <a:solidFill>
                  <a:srgbClr val="161616"/>
                </a:solidFill>
                <a:latin typeface="Arial"/>
                <a:cs typeface="Arial"/>
              </a:rPr>
              <a:t>Programare</a:t>
            </a:r>
            <a:endParaRPr sz="245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7E6E61C-55BE-6FEB-10BB-4D001E3D7AFC}"/>
              </a:ext>
            </a:extLst>
          </p:cNvPr>
          <p:cNvSpPr txBox="1"/>
          <p:nvPr/>
        </p:nvSpPr>
        <p:spPr>
          <a:xfrm>
            <a:off x="1306815" y="7638899"/>
            <a:ext cx="193802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45" dirty="0">
                <a:solidFill>
                  <a:srgbClr val="181818"/>
                </a:solidFill>
                <a:latin typeface="Arial"/>
                <a:cs typeface="Arial"/>
              </a:rPr>
              <a:t>Toolkit</a:t>
            </a:r>
            <a:r>
              <a:rPr sz="2550" spc="-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550" spc="-135" dirty="0">
                <a:solidFill>
                  <a:srgbClr val="111111"/>
                </a:solidFill>
                <a:latin typeface="Arial"/>
                <a:cs typeface="Arial"/>
              </a:rPr>
              <a:t>Specific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3AF1FA5-C074-25EF-A81C-271EA4160158}"/>
              </a:ext>
            </a:extLst>
          </p:cNvPr>
          <p:cNvSpPr txBox="1"/>
          <p:nvPr/>
        </p:nvSpPr>
        <p:spPr>
          <a:xfrm>
            <a:off x="1296135" y="8644104"/>
            <a:ext cx="3415029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60" dirty="0">
                <a:latin typeface="Arial"/>
                <a:cs typeface="Arial"/>
              </a:rPr>
              <a:t>Hardware</a:t>
            </a:r>
            <a:r>
              <a:rPr sz="2550" spc="-5" dirty="0">
                <a:latin typeface="Arial"/>
                <a:cs typeface="Arial"/>
              </a:rPr>
              <a:t> </a:t>
            </a:r>
            <a:r>
              <a:rPr sz="2550" spc="-80" dirty="0">
                <a:solidFill>
                  <a:srgbClr val="0C0C0C"/>
                </a:solidFill>
                <a:latin typeface="Arial"/>
                <a:cs typeface="Arial"/>
              </a:rPr>
              <a:t>(Implementare)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27C3845-8952-6760-1E8B-37A5D7AE219E}"/>
              </a:ext>
            </a:extLst>
          </p:cNvPr>
          <p:cNvSpPr txBox="1"/>
          <p:nvPr/>
        </p:nvSpPr>
        <p:spPr>
          <a:xfrm>
            <a:off x="6010214" y="3577506"/>
            <a:ext cx="18097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-25" dirty="0" err="1">
                <a:solidFill>
                  <a:srgbClr val="004B7C"/>
                </a:solidFill>
                <a:latin typeface="Arial"/>
                <a:cs typeface="Arial"/>
              </a:rPr>
              <a:t>Specifica</a:t>
            </a:r>
            <a:r>
              <a:rPr lang="en-US" sz="2800" spc="-25" dirty="0" err="1">
                <a:solidFill>
                  <a:srgbClr val="004B7C"/>
                </a:solidFill>
                <a:latin typeface="Arial"/>
                <a:cs typeface="Arial"/>
              </a:rPr>
              <a:t>t</a:t>
            </a:r>
            <a:r>
              <a:rPr sz="2800" spc="-25" dirty="0" err="1">
                <a:solidFill>
                  <a:srgbClr val="004B7C"/>
                </a:solidFill>
                <a:latin typeface="Arial"/>
                <a:cs typeface="Arial"/>
              </a:rPr>
              <a:t>ie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153B299-6D5F-59A2-4319-0386732838D8}"/>
              </a:ext>
            </a:extLst>
          </p:cNvPr>
          <p:cNvSpPr txBox="1"/>
          <p:nvPr/>
        </p:nvSpPr>
        <p:spPr>
          <a:xfrm>
            <a:off x="6000660" y="4615431"/>
            <a:ext cx="8857615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550" dirty="0"/>
              <a:t>Matrice </a:t>
            </a:r>
            <a:r>
              <a:rPr lang="en-US" sz="2550" dirty="0" err="1"/>
              <a:t>booleană</a:t>
            </a:r>
            <a:r>
              <a:rPr lang="en-US" sz="2550" dirty="0"/>
              <a:t> de 9x28 </a:t>
            </a:r>
            <a:r>
              <a:rPr lang="en-US" sz="2550" dirty="0" err="1"/>
              <a:t>pixeli</a:t>
            </a:r>
            <a:r>
              <a:rPr lang="en-US" sz="2550" dirty="0"/>
              <a:t> (</a:t>
            </a:r>
            <a:r>
              <a:rPr lang="en-US" sz="2550" dirty="0" err="1"/>
              <a:t>desen</a:t>
            </a:r>
            <a:r>
              <a:rPr lang="en-US" sz="2550" dirty="0"/>
              <a:t> manual)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24AA010-B29A-88AC-B8A6-19B6878647EF}"/>
              </a:ext>
            </a:extLst>
          </p:cNvPr>
          <p:cNvSpPr txBox="1"/>
          <p:nvPr/>
        </p:nvSpPr>
        <p:spPr>
          <a:xfrm>
            <a:off x="6002230" y="5628490"/>
            <a:ext cx="8804275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550" dirty="0"/>
              <a:t>4 </a:t>
            </a:r>
            <a:r>
              <a:rPr lang="en-US" sz="2550" dirty="0" err="1"/>
              <a:t>caractere</a:t>
            </a:r>
            <a:r>
              <a:rPr lang="en-US" sz="2550" dirty="0"/>
              <a:t> </a:t>
            </a:r>
            <a:r>
              <a:rPr lang="en-US" sz="2550" dirty="0" err="1"/>
              <a:t>recunoscute</a:t>
            </a:r>
            <a:r>
              <a:rPr lang="en-US" sz="2550" dirty="0"/>
              <a:t> în format text.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4544448-55B6-B273-78FE-83A59BD0189E}"/>
              </a:ext>
            </a:extLst>
          </p:cNvPr>
          <p:cNvSpPr txBox="1"/>
          <p:nvPr/>
        </p:nvSpPr>
        <p:spPr>
          <a:xfrm>
            <a:off x="6003951" y="6658563"/>
            <a:ext cx="224282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50" dirty="0">
                <a:solidFill>
                  <a:srgbClr val="2D2D2D"/>
                </a:solidFill>
                <a:latin typeface="Arial"/>
                <a:cs typeface="Arial"/>
              </a:rPr>
              <a:t>NI</a:t>
            </a:r>
            <a:r>
              <a:rPr sz="2300" spc="-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1A1A1A"/>
                </a:solidFill>
                <a:latin typeface="Arial"/>
                <a:cs typeface="Arial"/>
              </a:rPr>
              <a:t>LabVIEW</a:t>
            </a:r>
            <a:r>
              <a:rPr sz="2300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181818"/>
                </a:solidFill>
                <a:latin typeface="Arial"/>
                <a:cs typeface="Arial"/>
              </a:rPr>
              <a:t>2025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B97BF7C-643B-281F-F7DB-FCF27FD13A77}"/>
              </a:ext>
            </a:extLst>
          </p:cNvPr>
          <p:cNvSpPr txBox="1"/>
          <p:nvPr/>
        </p:nvSpPr>
        <p:spPr>
          <a:xfrm>
            <a:off x="6002704" y="7655259"/>
            <a:ext cx="52298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229" dirty="0">
                <a:solidFill>
                  <a:srgbClr val="2D2D2D"/>
                </a:solidFill>
                <a:latin typeface="Arial"/>
                <a:cs typeface="Arial"/>
              </a:rPr>
              <a:t>NI</a:t>
            </a:r>
            <a:r>
              <a:rPr sz="2450" spc="-114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2450" spc="-130" dirty="0">
                <a:solidFill>
                  <a:srgbClr val="1D1D1D"/>
                </a:solidFill>
                <a:latin typeface="Arial"/>
                <a:cs typeface="Arial"/>
              </a:rPr>
              <a:t>Super</a:t>
            </a:r>
            <a:r>
              <a:rPr sz="2450" spc="-1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150" dirty="0">
                <a:solidFill>
                  <a:srgbClr val="151515"/>
                </a:solidFill>
                <a:latin typeface="Arial"/>
                <a:cs typeface="Arial"/>
              </a:rPr>
              <a:t>Simple</a:t>
            </a:r>
            <a:r>
              <a:rPr sz="24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-135" dirty="0">
                <a:solidFill>
                  <a:srgbClr val="181818"/>
                </a:solidFill>
                <a:latin typeface="Arial"/>
                <a:cs typeface="Arial"/>
              </a:rPr>
              <a:t>Neural</a:t>
            </a:r>
            <a:r>
              <a:rPr sz="2450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50" spc="-95" dirty="0">
                <a:solidFill>
                  <a:srgbClr val="1A1A1A"/>
                </a:solidFill>
                <a:latin typeface="Arial"/>
                <a:cs typeface="Arial"/>
              </a:rPr>
              <a:t>Networks</a:t>
            </a:r>
            <a:r>
              <a:rPr sz="2450" spc="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450" spc="-270" dirty="0">
                <a:solidFill>
                  <a:srgbClr val="0E0E0E"/>
                </a:solidFill>
                <a:latin typeface="Arial"/>
                <a:cs typeface="Arial"/>
              </a:rPr>
              <a:t>(SSNN)</a:t>
            </a:r>
            <a:endParaRPr sz="245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8EBF807-36C3-62C6-4412-6C7AF205A835}"/>
              </a:ext>
            </a:extLst>
          </p:cNvPr>
          <p:cNvSpPr txBox="1"/>
          <p:nvPr/>
        </p:nvSpPr>
        <p:spPr>
          <a:xfrm>
            <a:off x="6004566" y="8660465"/>
            <a:ext cx="111474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10" dirty="0">
                <a:solidFill>
                  <a:srgbClr val="1A1A1A"/>
                </a:solidFill>
                <a:latin typeface="Arial"/>
                <a:cs typeface="Arial"/>
              </a:rPr>
              <a:t>Sistemul</a:t>
            </a:r>
            <a:r>
              <a:rPr sz="2450" spc="-6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450" spc="-50" dirty="0">
                <a:solidFill>
                  <a:srgbClr val="131313"/>
                </a:solidFill>
                <a:latin typeface="Arial"/>
                <a:cs typeface="Arial"/>
              </a:rPr>
              <a:t>este</a:t>
            </a:r>
            <a:r>
              <a:rPr sz="2450" spc="-12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450" spc="-45" dirty="0">
                <a:solidFill>
                  <a:srgbClr val="151515"/>
                </a:solidFill>
                <a:latin typeface="Arial"/>
                <a:cs typeface="Arial"/>
              </a:rPr>
              <a:t>dezvoltat</a:t>
            </a:r>
            <a:r>
              <a:rPr sz="2450" spc="-114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-80" dirty="0">
                <a:solidFill>
                  <a:srgbClr val="212121"/>
                </a:solidFill>
                <a:latin typeface="Arial"/>
                <a:cs typeface="Arial"/>
              </a:rPr>
              <a:t>pe</a:t>
            </a:r>
            <a:r>
              <a:rPr sz="2450" spc="-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450" spc="-280" dirty="0">
                <a:solidFill>
                  <a:srgbClr val="181818"/>
                </a:solidFill>
                <a:latin typeface="Arial"/>
                <a:cs typeface="Arial"/>
              </a:rPr>
              <a:t>PC,</a:t>
            </a:r>
            <a:r>
              <a:rPr sz="2450" spc="-1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1F1F1F"/>
                </a:solidFill>
                <a:latin typeface="Arial"/>
                <a:cs typeface="Arial"/>
              </a:rPr>
              <a:t>dar</a:t>
            </a:r>
            <a:r>
              <a:rPr sz="2450" spc="-3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450" spc="-50" dirty="0">
                <a:solidFill>
                  <a:srgbClr val="1C1C1C"/>
                </a:solidFill>
                <a:latin typeface="Arial"/>
                <a:cs typeface="Arial"/>
              </a:rPr>
              <a:t>este</a:t>
            </a:r>
            <a:r>
              <a:rPr sz="2450" spc="-12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151515"/>
                </a:solidFill>
                <a:latin typeface="Arial"/>
                <a:cs typeface="Arial"/>
              </a:rPr>
              <a:t>direct</a:t>
            </a:r>
            <a:r>
              <a:rPr sz="2450" spc="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-90" dirty="0">
                <a:solidFill>
                  <a:srgbClr val="1A1A1A"/>
                </a:solidFill>
                <a:latin typeface="Arial"/>
                <a:cs typeface="Arial"/>
              </a:rPr>
              <a:t>scalabil</a:t>
            </a:r>
            <a:r>
              <a:rPr sz="2450" spc="-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151515"/>
                </a:solidFill>
                <a:latin typeface="Arial"/>
                <a:cs typeface="Arial"/>
              </a:rPr>
              <a:t>pentru</a:t>
            </a:r>
            <a:r>
              <a:rPr sz="2450" spc="-1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0F0F0F"/>
                </a:solidFill>
                <a:latin typeface="Arial"/>
                <a:cs typeface="Arial"/>
              </a:rPr>
              <a:t>platforme</a:t>
            </a:r>
            <a:r>
              <a:rPr sz="2450" spc="-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2450" spc="-60" dirty="0">
                <a:solidFill>
                  <a:srgbClr val="151515"/>
                </a:solidFill>
                <a:latin typeface="Arial"/>
                <a:cs typeface="Arial"/>
              </a:rPr>
              <a:t>industriale</a:t>
            </a:r>
            <a:r>
              <a:rPr sz="245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Arial"/>
                <a:cs typeface="Arial"/>
              </a:rPr>
              <a:t>NI.</a:t>
            </a:r>
            <a:endParaRPr sz="24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633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605" y="773271"/>
            <a:ext cx="11879580" cy="904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95"/>
              </a:spcBef>
            </a:pPr>
            <a:r>
              <a:rPr lang="en-US" sz="5800" spc="-465" dirty="0">
                <a:solidFill>
                  <a:srgbClr val="034F85"/>
                </a:solidFill>
              </a:rPr>
              <a:t>9</a:t>
            </a:r>
            <a:r>
              <a:rPr sz="5800" spc="-465" dirty="0">
                <a:solidFill>
                  <a:srgbClr val="034F85"/>
                </a:solidFill>
              </a:rPr>
              <a:t>.</a:t>
            </a:r>
            <a:r>
              <a:rPr sz="5800" spc="-935" dirty="0">
                <a:solidFill>
                  <a:srgbClr val="034F85"/>
                </a:solidFill>
              </a:rPr>
              <a:t> </a:t>
            </a:r>
            <a:r>
              <a:rPr sz="5800" spc="125" dirty="0" err="1">
                <a:solidFill>
                  <a:srgbClr val="004F87"/>
                </a:solidFill>
              </a:rPr>
              <a:t>Utilizatori</a:t>
            </a:r>
            <a:r>
              <a:rPr sz="5800" spc="-350" dirty="0">
                <a:solidFill>
                  <a:srgbClr val="004F87"/>
                </a:solidFill>
              </a:rPr>
              <a:t> </a:t>
            </a:r>
            <a:r>
              <a:rPr lang="en-US" sz="5800" spc="165" dirty="0" err="1">
                <a:solidFill>
                  <a:srgbClr val="00528A"/>
                </a:solidFill>
              </a:rPr>
              <a:t>s</a:t>
            </a:r>
            <a:r>
              <a:rPr sz="5800" spc="165" dirty="0" err="1">
                <a:solidFill>
                  <a:srgbClr val="00528A"/>
                </a:solidFill>
              </a:rPr>
              <a:t>i</a:t>
            </a:r>
            <a:r>
              <a:rPr sz="5800" spc="-1010" dirty="0">
                <a:solidFill>
                  <a:srgbClr val="00528A"/>
                </a:solidFill>
              </a:rPr>
              <a:t> </a:t>
            </a:r>
            <a:r>
              <a:rPr sz="5800" spc="60" dirty="0"/>
              <a:t>Roluri</a:t>
            </a:r>
            <a:endParaRPr sz="5800" dirty="0"/>
          </a:p>
        </p:txBody>
      </p:sp>
      <p:sp>
        <p:nvSpPr>
          <p:cNvPr id="3" name="object 3"/>
          <p:cNvSpPr txBox="1"/>
          <p:nvPr/>
        </p:nvSpPr>
        <p:spPr>
          <a:xfrm>
            <a:off x="1565187" y="4572239"/>
            <a:ext cx="7357745" cy="309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100"/>
              </a:spcBef>
            </a:pPr>
            <a:r>
              <a:rPr lang="en-US" sz="3350" spc="70" dirty="0" err="1">
                <a:solidFill>
                  <a:srgbClr val="005485"/>
                </a:solidFill>
                <a:latin typeface="Arial"/>
                <a:cs typeface="Arial"/>
              </a:rPr>
              <a:t>U</a:t>
            </a:r>
            <a:r>
              <a:rPr sz="3350" spc="70" dirty="0" err="1">
                <a:solidFill>
                  <a:srgbClr val="005485"/>
                </a:solidFill>
                <a:latin typeface="Arial"/>
                <a:cs typeface="Arial"/>
              </a:rPr>
              <a:t>tilizator</a:t>
            </a:r>
            <a:r>
              <a:rPr sz="3350" spc="50" dirty="0">
                <a:solidFill>
                  <a:srgbClr val="005485"/>
                </a:solidFill>
                <a:latin typeface="Arial"/>
                <a:cs typeface="Arial"/>
              </a:rPr>
              <a:t> </a:t>
            </a:r>
            <a:r>
              <a:rPr sz="3350" spc="-75" dirty="0">
                <a:solidFill>
                  <a:srgbClr val="005985"/>
                </a:solidFill>
                <a:latin typeface="Arial"/>
                <a:cs typeface="Arial"/>
              </a:rPr>
              <a:t>Standard </a:t>
            </a:r>
            <a:r>
              <a:rPr sz="3350" spc="-10" dirty="0">
                <a:solidFill>
                  <a:srgbClr val="0F4F79"/>
                </a:solidFill>
                <a:latin typeface="Arial"/>
                <a:cs typeface="Arial"/>
              </a:rPr>
              <a:t>(Operator)</a:t>
            </a:r>
            <a:endParaRPr sz="3350" dirty="0">
              <a:latin typeface="Arial"/>
              <a:cs typeface="Arial"/>
            </a:endParaRPr>
          </a:p>
          <a:p>
            <a:pPr marL="12700" marR="115570" indent="16510">
              <a:lnSpc>
                <a:spcPct val="121000"/>
              </a:lnSpc>
              <a:spcBef>
                <a:spcPts val="1889"/>
              </a:spcBef>
            </a:pPr>
            <a:r>
              <a:rPr sz="2300" b="1" spc="75" dirty="0">
                <a:solidFill>
                  <a:srgbClr val="1C1C1C"/>
                </a:solidFill>
                <a:latin typeface="Arial"/>
                <a:cs typeface="Arial"/>
              </a:rPr>
              <a:t>Acces</a:t>
            </a:r>
            <a:r>
              <a:rPr sz="2300" spc="75" dirty="0">
                <a:solidFill>
                  <a:srgbClr val="1C1C1C"/>
                </a:solidFill>
                <a:latin typeface="Arial"/>
                <a:cs typeface="Arial"/>
              </a:rPr>
              <a:t>:</a:t>
            </a:r>
            <a:r>
              <a:rPr sz="2300" spc="6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1F1F"/>
                </a:solidFill>
                <a:latin typeface="Arial"/>
                <a:cs typeface="Arial"/>
              </a:rPr>
              <a:t>Are</a:t>
            </a:r>
            <a:r>
              <a:rPr sz="2300" spc="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81818"/>
                </a:solidFill>
                <a:latin typeface="Arial"/>
                <a:cs typeface="Arial"/>
              </a:rPr>
              <a:t>acces</a:t>
            </a:r>
            <a:r>
              <a:rPr sz="2300" spc="9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C0C0C"/>
                </a:solidFill>
                <a:latin typeface="Arial"/>
                <a:cs typeface="Arial"/>
              </a:rPr>
              <a:t>doar</a:t>
            </a:r>
            <a:r>
              <a:rPr sz="2300" spc="1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42424"/>
                </a:solidFill>
                <a:latin typeface="Arial"/>
                <a:cs typeface="Arial"/>
              </a:rPr>
              <a:t>la</a:t>
            </a:r>
            <a:r>
              <a:rPr sz="2300" spc="2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2300" dirty="0" err="1">
                <a:solidFill>
                  <a:srgbClr val="111111"/>
                </a:solidFill>
                <a:latin typeface="Arial"/>
                <a:cs typeface="Arial"/>
              </a:rPr>
              <a:t>interfa</a:t>
            </a:r>
            <a:r>
              <a:rPr lang="en-US" sz="2300" dirty="0" err="1">
                <a:solidFill>
                  <a:srgbClr val="111111"/>
                </a:solidFill>
                <a:latin typeface="Arial"/>
                <a:cs typeface="Arial"/>
              </a:rPr>
              <a:t>ta</a:t>
            </a:r>
            <a:r>
              <a:rPr sz="2300" spc="20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D1D1D"/>
                </a:solidFill>
                <a:latin typeface="Arial"/>
                <a:cs typeface="Arial"/>
              </a:rPr>
              <a:t>de</a:t>
            </a:r>
            <a:r>
              <a:rPr sz="2300" spc="-3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dirty="0" err="1">
                <a:solidFill>
                  <a:srgbClr val="1D1D1D"/>
                </a:solidFill>
                <a:latin typeface="Arial"/>
                <a:cs typeface="Arial"/>
              </a:rPr>
              <a:t>predic</a:t>
            </a:r>
            <a:r>
              <a:rPr lang="en-US" sz="2300" dirty="0" err="1">
                <a:solidFill>
                  <a:srgbClr val="1D1D1D"/>
                </a:solidFill>
                <a:latin typeface="Arial"/>
                <a:cs typeface="Arial"/>
              </a:rPr>
              <a:t>t</a:t>
            </a:r>
            <a:r>
              <a:rPr sz="2300" dirty="0" err="1">
                <a:solidFill>
                  <a:srgbClr val="1D1D1D"/>
                </a:solidFill>
                <a:latin typeface="Arial"/>
                <a:cs typeface="Arial"/>
              </a:rPr>
              <a:t>ie</a:t>
            </a:r>
            <a:r>
              <a:rPr sz="2300" spc="114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81818"/>
                </a:solidFill>
                <a:latin typeface="Arial"/>
                <a:cs typeface="Arial"/>
              </a:rPr>
              <a:t>(Panoul </a:t>
            </a:r>
            <a:r>
              <a:rPr sz="2300" spc="-10" dirty="0">
                <a:solidFill>
                  <a:srgbClr val="161616"/>
                </a:solidFill>
                <a:latin typeface="Arial"/>
                <a:cs typeface="Arial"/>
              </a:rPr>
              <a:t>Frontal).</a:t>
            </a:r>
            <a:endParaRPr sz="2300" dirty="0">
              <a:latin typeface="Arial"/>
              <a:cs typeface="Arial"/>
            </a:endParaRPr>
          </a:p>
          <a:p>
            <a:pPr marL="16510" marR="5080" indent="12700">
              <a:lnSpc>
                <a:spcPct val="114599"/>
              </a:lnSpc>
              <a:spcBef>
                <a:spcPts val="2165"/>
              </a:spcBef>
            </a:pPr>
            <a:r>
              <a:rPr sz="2300" b="1" dirty="0">
                <a:solidFill>
                  <a:srgbClr val="1A1A1A"/>
                </a:solidFill>
                <a:latin typeface="Arial"/>
                <a:cs typeface="Arial"/>
              </a:rPr>
              <a:t>Acțiuni</a:t>
            </a:r>
            <a:r>
              <a:rPr sz="2300" dirty="0">
                <a:solidFill>
                  <a:srgbClr val="1A1A1A"/>
                </a:solidFill>
                <a:latin typeface="Arial"/>
                <a:cs typeface="Arial"/>
              </a:rPr>
              <a:t>:</a:t>
            </a:r>
            <a:r>
              <a:rPr sz="2300" spc="-13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1A1A1A"/>
                </a:solidFill>
                <a:latin typeface="Arial"/>
                <a:cs typeface="Arial"/>
              </a:rPr>
              <a:t>Introduce</a:t>
            </a:r>
            <a:r>
              <a:rPr sz="2300" spc="10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1A1A1A"/>
                </a:solidFill>
                <a:latin typeface="Arial"/>
                <a:cs typeface="Arial"/>
              </a:rPr>
              <a:t>un</a:t>
            </a:r>
            <a:r>
              <a:rPr sz="2300" spc="-5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161616"/>
                </a:solidFill>
                <a:latin typeface="Arial"/>
                <a:cs typeface="Arial"/>
              </a:rPr>
              <a:t>string,</a:t>
            </a:r>
            <a:r>
              <a:rPr sz="2300" spc="-4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300" spc="-160" dirty="0" err="1">
                <a:solidFill>
                  <a:srgbClr val="1A1A1A"/>
                </a:solidFill>
                <a:latin typeface="Arial"/>
                <a:cs typeface="Arial"/>
              </a:rPr>
              <a:t>vizualizeaz</a:t>
            </a:r>
            <a:r>
              <a:rPr lang="en-US" sz="2300" spc="-160" dirty="0" err="1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sz="2300" spc="1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10" dirty="0" err="1">
                <a:solidFill>
                  <a:srgbClr val="161616"/>
                </a:solidFill>
                <a:latin typeface="Arial"/>
                <a:cs typeface="Arial"/>
              </a:rPr>
              <a:t>matricea</a:t>
            </a:r>
            <a:r>
              <a:rPr sz="2300" spc="-1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300" spc="-90" dirty="0" err="1">
                <a:solidFill>
                  <a:srgbClr val="1A1A1A"/>
                </a:solidFill>
                <a:latin typeface="Arial"/>
                <a:cs typeface="Arial"/>
              </a:rPr>
              <a:t>boolean</a:t>
            </a:r>
            <a:r>
              <a:rPr lang="en-US" sz="2300" spc="-90" dirty="0" err="1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sz="2300" spc="-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spc="-70" dirty="0" err="1">
                <a:solidFill>
                  <a:srgbClr val="151515"/>
                </a:solidFill>
                <a:latin typeface="Arial"/>
                <a:cs typeface="Arial"/>
              </a:rPr>
              <a:t>generat</a:t>
            </a:r>
            <a:r>
              <a:rPr lang="en-US" sz="2300" spc="-70" dirty="0" err="1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2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212121"/>
                </a:solidFill>
                <a:latin typeface="Arial"/>
                <a:cs typeface="Arial"/>
              </a:rPr>
              <a:t>și</a:t>
            </a:r>
            <a:r>
              <a:rPr sz="2300" spc="-1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1D1D1D"/>
                </a:solidFill>
                <a:latin typeface="Arial"/>
                <a:cs typeface="Arial"/>
              </a:rPr>
              <a:t>primeşte</a:t>
            </a:r>
            <a:r>
              <a:rPr sz="2300" spc="-8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spc="-45" dirty="0" err="1">
                <a:solidFill>
                  <a:srgbClr val="181818"/>
                </a:solidFill>
                <a:latin typeface="Arial"/>
                <a:cs typeface="Arial"/>
              </a:rPr>
              <a:t>rezultatul</a:t>
            </a:r>
            <a:r>
              <a:rPr sz="2300" spc="-4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300" spc="-60" dirty="0" err="1">
                <a:solidFill>
                  <a:srgbClr val="151515"/>
                </a:solidFill>
                <a:latin typeface="Arial"/>
                <a:cs typeface="Arial"/>
              </a:rPr>
              <a:t>clasi</a:t>
            </a:r>
            <a:r>
              <a:rPr lang="en-US" sz="2300" spc="-60" dirty="0" err="1">
                <a:solidFill>
                  <a:srgbClr val="151515"/>
                </a:solidFill>
                <a:latin typeface="Arial"/>
                <a:cs typeface="Arial"/>
              </a:rPr>
              <a:t>fi</a:t>
            </a:r>
            <a:r>
              <a:rPr sz="2300" spc="-60" dirty="0" err="1">
                <a:solidFill>
                  <a:srgbClr val="151515"/>
                </a:solidFill>
                <a:latin typeface="Arial"/>
                <a:cs typeface="Arial"/>
              </a:rPr>
              <a:t>c</a:t>
            </a:r>
            <a:r>
              <a:rPr lang="en-US" sz="2300" spc="-60" dirty="0" err="1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2300" spc="-60" dirty="0" err="1">
                <a:solidFill>
                  <a:srgbClr val="151515"/>
                </a:solidFill>
                <a:latin typeface="Arial"/>
                <a:cs typeface="Arial"/>
              </a:rPr>
              <a:t>rii</a:t>
            </a:r>
            <a:r>
              <a:rPr sz="23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300" spc="-114" dirty="0">
                <a:solidFill>
                  <a:srgbClr val="1C1C1C"/>
                </a:solidFill>
                <a:latin typeface="Arial"/>
                <a:cs typeface="Arial"/>
              </a:rPr>
              <a:t>de</a:t>
            </a:r>
            <a:r>
              <a:rPr sz="2300" spc="-7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16283D"/>
                </a:solidFill>
                <a:latin typeface="Arial"/>
                <a:cs typeface="Arial"/>
              </a:rPr>
              <a:t>la </a:t>
            </a:r>
            <a:r>
              <a:rPr sz="2300" spc="-60" dirty="0" err="1">
                <a:solidFill>
                  <a:srgbClr val="1D1D1D"/>
                </a:solidFill>
                <a:latin typeface="Arial"/>
                <a:cs typeface="Arial"/>
              </a:rPr>
              <a:t>re</a:t>
            </a:r>
            <a:r>
              <a:rPr lang="en-US" sz="2300" spc="-60" dirty="0" err="1">
                <a:solidFill>
                  <a:srgbClr val="1D1D1D"/>
                </a:solidFill>
                <a:latin typeface="Arial"/>
                <a:cs typeface="Arial"/>
              </a:rPr>
              <a:t>t</a:t>
            </a:r>
            <a:r>
              <a:rPr sz="2300" spc="-60" dirty="0" err="1">
                <a:solidFill>
                  <a:srgbClr val="1D1D1D"/>
                </a:solidFill>
                <a:latin typeface="Arial"/>
                <a:cs typeface="Arial"/>
              </a:rPr>
              <a:t>eaua</a:t>
            </a:r>
            <a:r>
              <a:rPr sz="2300" spc="-6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spc="-10" dirty="0" err="1">
                <a:solidFill>
                  <a:srgbClr val="1F1F1F"/>
                </a:solidFill>
                <a:latin typeface="Arial"/>
                <a:cs typeface="Arial"/>
              </a:rPr>
              <a:t>antrenat</a:t>
            </a:r>
            <a:r>
              <a:rPr lang="en-US" sz="2300" spc="-10" dirty="0" err="1">
                <a:solidFill>
                  <a:srgbClr val="1F1F1F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srgbClr val="1F1F1F"/>
                </a:solidFill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37850" y="4572239"/>
            <a:ext cx="7659771" cy="27930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 spc="-45" dirty="0">
                <a:solidFill>
                  <a:srgbClr val="004885"/>
                </a:solidFill>
                <a:latin typeface="Arial"/>
                <a:cs typeface="Arial"/>
              </a:rPr>
              <a:t>   </a:t>
            </a:r>
            <a:r>
              <a:rPr sz="3600" spc="-45" dirty="0">
                <a:solidFill>
                  <a:srgbClr val="004885"/>
                </a:solidFill>
                <a:latin typeface="Arial"/>
                <a:cs typeface="Arial"/>
              </a:rPr>
              <a:t>Administrator</a:t>
            </a:r>
            <a:r>
              <a:rPr sz="3600" spc="-160" dirty="0">
                <a:solidFill>
                  <a:srgbClr val="004885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4F8E"/>
                </a:solidFill>
                <a:latin typeface="Arial"/>
                <a:cs typeface="Arial"/>
              </a:rPr>
              <a:t>(Inginer)</a:t>
            </a:r>
            <a:endParaRPr sz="3600" dirty="0">
              <a:latin typeface="Arial"/>
              <a:cs typeface="Arial"/>
            </a:endParaRPr>
          </a:p>
          <a:p>
            <a:pPr marL="20955" marR="764540" indent="11430">
              <a:lnSpc>
                <a:spcPct val="123200"/>
              </a:lnSpc>
              <a:spcBef>
                <a:spcPts val="1845"/>
              </a:spcBef>
            </a:pPr>
            <a:r>
              <a:rPr sz="2300" b="1" spc="75" dirty="0">
                <a:solidFill>
                  <a:srgbClr val="1D1D1D"/>
                </a:solidFill>
                <a:latin typeface="Arial"/>
                <a:cs typeface="Arial"/>
              </a:rPr>
              <a:t>Acces</a:t>
            </a:r>
            <a:r>
              <a:rPr sz="2300" spc="75" dirty="0">
                <a:solidFill>
                  <a:srgbClr val="1D1D1D"/>
                </a:solidFill>
                <a:latin typeface="Arial"/>
                <a:cs typeface="Arial"/>
              </a:rPr>
              <a:t>:</a:t>
            </a:r>
            <a:r>
              <a:rPr sz="2300" spc="-7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1F1F"/>
                </a:solidFill>
                <a:latin typeface="Arial"/>
                <a:cs typeface="Arial"/>
              </a:rPr>
              <a:t>Are</a:t>
            </a:r>
            <a:r>
              <a:rPr sz="2300" spc="-3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acces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81818"/>
                </a:solidFill>
                <a:latin typeface="Arial"/>
                <a:cs typeface="Arial"/>
              </a:rPr>
              <a:t>la</a:t>
            </a:r>
            <a:r>
              <a:rPr sz="2300" spc="2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300" spc="-380" dirty="0">
                <a:solidFill>
                  <a:srgbClr val="1F1F1F"/>
                </a:solidFill>
                <a:latin typeface="Arial"/>
                <a:cs typeface="Arial"/>
              </a:rPr>
              <a:t>VI—</a:t>
            </a:r>
            <a:r>
              <a:rPr sz="2300" spc="-235" dirty="0">
                <a:solidFill>
                  <a:srgbClr val="1F1F1F"/>
                </a:solidFill>
                <a:latin typeface="Arial"/>
                <a:cs typeface="Arial"/>
              </a:rPr>
              <a:t>uI</a:t>
            </a:r>
            <a:r>
              <a:rPr sz="2300" spc="7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D1D1D"/>
                </a:solidFill>
                <a:latin typeface="Arial"/>
                <a:cs typeface="Arial"/>
              </a:rPr>
              <a:t>de</a:t>
            </a:r>
            <a:r>
              <a:rPr sz="2300" spc="-3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51515"/>
                </a:solidFill>
                <a:latin typeface="Arial"/>
                <a:cs typeface="Arial"/>
              </a:rPr>
              <a:t>antrenare</a:t>
            </a:r>
            <a:r>
              <a:rPr sz="23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0C0C0C"/>
                </a:solidFill>
                <a:latin typeface="Arial"/>
                <a:cs typeface="Arial"/>
              </a:rPr>
              <a:t>(Antrenare</a:t>
            </a:r>
            <a:r>
              <a:rPr lang="en-US" sz="2300" spc="110" dirty="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sz="2300" spc="110" dirty="0">
                <a:solidFill>
                  <a:srgbClr val="181818"/>
                </a:solidFill>
                <a:latin typeface="Arial"/>
                <a:cs typeface="Arial"/>
              </a:rPr>
              <a:t>euroni.</a:t>
            </a:r>
            <a:r>
              <a:rPr sz="2300" spc="-20" dirty="0">
                <a:solidFill>
                  <a:srgbClr val="161616"/>
                </a:solidFill>
                <a:latin typeface="Arial"/>
                <a:cs typeface="Arial"/>
              </a:rPr>
              <a:t>v</a:t>
            </a:r>
            <a:r>
              <a:rPr lang="en-US" sz="2300" spc="-20" dirty="0">
                <a:solidFill>
                  <a:srgbClr val="161616"/>
                </a:solidFill>
                <a:latin typeface="Arial"/>
                <a:cs typeface="Arial"/>
              </a:rPr>
              <a:t>i</a:t>
            </a:r>
            <a:r>
              <a:rPr sz="2300" spc="-20" dirty="0">
                <a:solidFill>
                  <a:srgbClr val="161616"/>
                </a:solidFill>
                <a:latin typeface="Arial"/>
                <a:cs typeface="Arial"/>
              </a:rPr>
              <a:t>).</a:t>
            </a:r>
            <a:endParaRPr sz="2300" dirty="0">
              <a:latin typeface="Arial"/>
              <a:cs typeface="Arial"/>
            </a:endParaRPr>
          </a:p>
          <a:p>
            <a:pPr marL="19685" marR="5080" indent="13335">
              <a:lnSpc>
                <a:spcPct val="123200"/>
              </a:lnSpc>
              <a:spcBef>
                <a:spcPts val="2285"/>
              </a:spcBef>
            </a:pPr>
            <a:r>
              <a:rPr sz="2300" b="1" spc="100" dirty="0">
                <a:solidFill>
                  <a:srgbClr val="1F1F1F"/>
                </a:solidFill>
                <a:latin typeface="Arial"/>
                <a:cs typeface="Arial"/>
              </a:rPr>
              <a:t>Acțiuni</a:t>
            </a:r>
            <a:r>
              <a:rPr sz="2300" spc="100" dirty="0">
                <a:solidFill>
                  <a:srgbClr val="1F1F1F"/>
                </a:solidFill>
                <a:latin typeface="Arial"/>
                <a:cs typeface="Arial"/>
              </a:rPr>
              <a:t>:</a:t>
            </a:r>
            <a:r>
              <a:rPr sz="2300" spc="6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300" spc="-70" dirty="0" err="1">
                <a:solidFill>
                  <a:srgbClr val="1A1A1A"/>
                </a:solidFill>
                <a:latin typeface="Arial"/>
                <a:cs typeface="Arial"/>
              </a:rPr>
              <a:t>Seteaz</a:t>
            </a:r>
            <a:r>
              <a:rPr lang="en-US" sz="2300" spc="-70" dirty="0" err="1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sz="2300" spc="1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300" dirty="0" err="1">
                <a:solidFill>
                  <a:srgbClr val="151515"/>
                </a:solidFill>
                <a:latin typeface="Arial"/>
                <a:cs typeface="Arial"/>
              </a:rPr>
              <a:t>parametrii</a:t>
            </a:r>
            <a:r>
              <a:rPr sz="2300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300" dirty="0" err="1">
                <a:solidFill>
                  <a:srgbClr val="1D1D1D"/>
                </a:solidFill>
                <a:latin typeface="Arial"/>
                <a:cs typeface="Arial"/>
              </a:rPr>
              <a:t>re</a:t>
            </a:r>
            <a:r>
              <a:rPr lang="en-US" sz="2300" dirty="0" err="1">
                <a:solidFill>
                  <a:srgbClr val="1D1D1D"/>
                </a:solidFill>
                <a:latin typeface="Arial"/>
                <a:cs typeface="Arial"/>
              </a:rPr>
              <a:t>t</a:t>
            </a:r>
            <a:r>
              <a:rPr sz="2300" dirty="0" err="1">
                <a:solidFill>
                  <a:srgbClr val="1D1D1D"/>
                </a:solidFill>
                <a:latin typeface="Arial"/>
                <a:cs typeface="Arial"/>
              </a:rPr>
              <a:t>elei</a:t>
            </a:r>
            <a:r>
              <a:rPr sz="2300" spc="1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61616"/>
                </a:solidFill>
                <a:latin typeface="Arial"/>
                <a:cs typeface="Arial"/>
              </a:rPr>
              <a:t>(nr.</a:t>
            </a:r>
            <a:r>
              <a:rPr sz="2300" spc="40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C1C1C"/>
                </a:solidFill>
                <a:latin typeface="Arial"/>
                <a:cs typeface="Arial"/>
              </a:rPr>
              <a:t>straturi,</a:t>
            </a:r>
            <a:r>
              <a:rPr sz="2300" spc="-4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0E0E0E"/>
                </a:solidFill>
                <a:latin typeface="Arial"/>
                <a:cs typeface="Arial"/>
              </a:rPr>
              <a:t>neuroni), 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i</a:t>
            </a:r>
            <a:r>
              <a:rPr sz="2300" dirty="0" err="1">
                <a:solidFill>
                  <a:srgbClr val="181818"/>
                </a:solidFill>
                <a:latin typeface="Arial"/>
                <a:cs typeface="Arial"/>
              </a:rPr>
              <a:t>ncarc</a:t>
            </a:r>
            <a:r>
              <a:rPr lang="en-US" sz="2300" dirty="0" err="1">
                <a:solidFill>
                  <a:srgbClr val="181818"/>
                </a:solidFill>
                <a:latin typeface="Arial"/>
                <a:cs typeface="Arial"/>
              </a:rPr>
              <a:t>a</a:t>
            </a:r>
            <a:r>
              <a:rPr sz="2300" spc="11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12121"/>
                </a:solidFill>
                <a:latin typeface="Arial"/>
                <a:cs typeface="Arial"/>
              </a:rPr>
              <a:t>setul</a:t>
            </a:r>
            <a:r>
              <a:rPr sz="23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1F1F"/>
                </a:solidFill>
                <a:latin typeface="Arial"/>
                <a:cs typeface="Arial"/>
              </a:rPr>
              <a:t>de</a:t>
            </a:r>
            <a:r>
              <a:rPr sz="2300" spc="-3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1F1F"/>
                </a:solidFill>
                <a:latin typeface="Arial"/>
                <a:cs typeface="Arial"/>
              </a:rPr>
              <a:t>date </a:t>
            </a:r>
            <a:r>
              <a:rPr lang="en-US" sz="2300" spc="-20" dirty="0" err="1">
                <a:solidFill>
                  <a:srgbClr val="212121"/>
                </a:solidFill>
                <a:latin typeface="Arial"/>
                <a:cs typeface="Arial"/>
              </a:rPr>
              <a:t>s</a:t>
            </a:r>
            <a:r>
              <a:rPr sz="2300" spc="-20" dirty="0" err="1">
                <a:solidFill>
                  <a:srgbClr val="212121"/>
                </a:solidFill>
                <a:latin typeface="Arial"/>
                <a:cs typeface="Arial"/>
              </a:rPr>
              <a:t>i</a:t>
            </a:r>
            <a:r>
              <a:rPr sz="2300" spc="-1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300" spc="-10" dirty="0" err="1">
                <a:solidFill>
                  <a:srgbClr val="181818"/>
                </a:solidFill>
                <a:latin typeface="Arial"/>
                <a:cs typeface="Arial"/>
              </a:rPr>
              <a:t>ini</a:t>
            </a:r>
            <a:r>
              <a:rPr lang="en-US" sz="2300" spc="-10" dirty="0" err="1">
                <a:solidFill>
                  <a:srgbClr val="181818"/>
                </a:solidFill>
                <a:latin typeface="Arial"/>
                <a:cs typeface="Arial"/>
              </a:rPr>
              <a:t>t</a:t>
            </a:r>
            <a:r>
              <a:rPr sz="2300" spc="-10" dirty="0" err="1">
                <a:solidFill>
                  <a:srgbClr val="181818"/>
                </a:solidFill>
                <a:latin typeface="Arial"/>
                <a:cs typeface="Arial"/>
              </a:rPr>
              <a:t>iază</a:t>
            </a:r>
            <a:r>
              <a:rPr sz="2300" spc="1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C1C1C"/>
                </a:solidFill>
                <a:latin typeface="Arial"/>
                <a:cs typeface="Arial"/>
              </a:rPr>
              <a:t>procesul</a:t>
            </a:r>
            <a:r>
              <a:rPr sz="2300" spc="10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51515"/>
                </a:solidFill>
                <a:latin typeface="Arial"/>
                <a:cs typeface="Arial"/>
              </a:rPr>
              <a:t>de</a:t>
            </a:r>
            <a:r>
              <a:rPr sz="2300" spc="-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lang="en-US" sz="2300" spc="-110" dirty="0" err="1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2300" spc="-10" dirty="0" err="1">
                <a:solidFill>
                  <a:srgbClr val="151515"/>
                </a:solidFill>
                <a:latin typeface="Arial"/>
                <a:cs typeface="Arial"/>
              </a:rPr>
              <a:t>nv</a:t>
            </a:r>
            <a:r>
              <a:rPr lang="en-US" sz="2300" spc="-10" dirty="0" err="1">
                <a:solidFill>
                  <a:srgbClr val="151515"/>
                </a:solidFill>
                <a:latin typeface="Arial"/>
                <a:cs typeface="Arial"/>
              </a:rPr>
              <a:t>at</a:t>
            </a:r>
            <a:r>
              <a:rPr sz="2300" spc="-10" dirty="0" err="1">
                <a:solidFill>
                  <a:srgbClr val="151515"/>
                </a:solidFill>
                <a:latin typeface="Arial"/>
                <a:cs typeface="Arial"/>
              </a:rPr>
              <a:t>are</a:t>
            </a:r>
            <a:r>
              <a:rPr sz="2300" spc="-10" dirty="0">
                <a:solidFill>
                  <a:srgbClr val="151515"/>
                </a:solidFill>
                <a:latin typeface="Arial"/>
                <a:cs typeface="Arial"/>
              </a:rPr>
              <a:t>.</a:t>
            </a:r>
            <a:endParaRPr lang="en-US" sz="2300" spc="-10" dirty="0">
              <a:solidFill>
                <a:srgbClr val="151515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pc="-150" dirty="0"/>
              <a:t>Bibliografie</a:t>
            </a:r>
            <a:r>
              <a:rPr spc="-200" dirty="0"/>
              <a:t> </a:t>
            </a:r>
            <a:r>
              <a:rPr spc="-490" dirty="0">
                <a:solidFill>
                  <a:srgbClr val="00508C"/>
                </a:solidFill>
              </a:rPr>
              <a:t>(Surse</a:t>
            </a:r>
            <a:r>
              <a:rPr spc="-480" dirty="0">
                <a:solidFill>
                  <a:srgbClr val="00508C"/>
                </a:solidFill>
              </a:rPr>
              <a:t> </a:t>
            </a:r>
            <a:r>
              <a:rPr spc="-465" dirty="0">
                <a:solidFill>
                  <a:srgbClr val="004F89"/>
                </a:solidFill>
              </a:rPr>
              <a:t>Relevante)</a:t>
            </a:r>
          </a:p>
        </p:txBody>
      </p:sp>
      <p:sp>
        <p:nvSpPr>
          <p:cNvPr id="29" name="CasetăText 28">
            <a:extLst>
              <a:ext uri="{FF2B5EF4-FFF2-40B4-BE49-F238E27FC236}">
                <a16:creationId xmlns:a16="http://schemas.microsoft.com/office/drawing/2014/main" id="{93E5A039-A05A-595A-44D7-AC86D7A1F980}"/>
              </a:ext>
            </a:extLst>
          </p:cNvPr>
          <p:cNvSpPr txBox="1"/>
          <p:nvPr/>
        </p:nvSpPr>
        <p:spPr>
          <a:xfrm>
            <a:off x="450850" y="2530475"/>
            <a:ext cx="192024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300" dirty="0"/>
              <a:t>Sursa </a:t>
            </a:r>
            <a:r>
              <a:rPr lang="en-US" sz="2300" dirty="0" err="1"/>
              <a:t>Tehnica</a:t>
            </a:r>
            <a:r>
              <a:rPr lang="en-US" sz="2300" dirty="0"/>
              <a:t>/</a:t>
            </a:r>
            <a:r>
              <a:rPr lang="en-US" sz="2300" dirty="0" err="1"/>
              <a:t>Studiu</a:t>
            </a:r>
            <a:r>
              <a:rPr lang="en-US" sz="2300" dirty="0"/>
              <a:t> de Caz (LabView </a:t>
            </a:r>
            <a:r>
              <a:rPr lang="en-US" sz="2300" dirty="0" err="1"/>
              <a:t>si</a:t>
            </a:r>
            <a:r>
              <a:rPr lang="en-US" sz="2300" dirty="0"/>
              <a:t> RN)</a:t>
            </a:r>
          </a:p>
          <a:p>
            <a:r>
              <a:rPr lang="en-US" sz="2300" dirty="0" err="1"/>
              <a:t>Packianather</a:t>
            </a:r>
            <a:r>
              <a:rPr lang="en-US" sz="2300" dirty="0"/>
              <a:t>, M. (2025). Implementing an Artificial Neural Network Using National Instruments LabVIEW. Manufacturing Engineering Centre, School of</a:t>
            </a:r>
          </a:p>
          <a:p>
            <a:r>
              <a:rPr lang="en-US" sz="2300" dirty="0"/>
              <a:t>Engineering, Cardiff University.</a:t>
            </a:r>
          </a:p>
          <a:p>
            <a:r>
              <a:rPr lang="en-US" sz="2300" dirty="0">
                <a:hlinkClick r:id="rId2"/>
              </a:rPr>
              <a:t>https://www.ni.com/en/solutions/academic-research/case-studies/implementing-an-artificial-neural-network-using-national-instruments-labview.html</a:t>
            </a:r>
            <a:endParaRPr lang="en-US" sz="2300" dirty="0"/>
          </a:p>
          <a:p>
            <a:endParaRPr lang="en-US" sz="2300" dirty="0"/>
          </a:p>
          <a:p>
            <a:pPr marL="342900" indent="-342900">
              <a:buAutoNum type="arabicPeriod" startAt="2"/>
            </a:pPr>
            <a:r>
              <a:rPr lang="en-US" sz="2300" dirty="0" err="1"/>
              <a:t>Articol</a:t>
            </a:r>
            <a:r>
              <a:rPr lang="en-US" sz="2300" dirty="0"/>
              <a:t> </a:t>
            </a:r>
            <a:r>
              <a:rPr lang="en-US" sz="2300" dirty="0" err="1"/>
              <a:t>Fondator</a:t>
            </a:r>
            <a:r>
              <a:rPr lang="en-US" sz="2300" dirty="0"/>
              <a:t> (Teoria RN </a:t>
            </a:r>
            <a:r>
              <a:rPr lang="en-US" sz="2300" dirty="0" err="1"/>
              <a:t>si</a:t>
            </a:r>
            <a:r>
              <a:rPr lang="en-US" sz="2300" dirty="0"/>
              <a:t> </a:t>
            </a:r>
            <a:r>
              <a:rPr lang="en-US" sz="2300" dirty="0" err="1"/>
              <a:t>Recunoastere</a:t>
            </a:r>
            <a:r>
              <a:rPr lang="en-US" sz="2300" dirty="0"/>
              <a:t> de </a:t>
            </a:r>
            <a:r>
              <a:rPr lang="en-US" sz="2300" dirty="0" err="1"/>
              <a:t>Documente</a:t>
            </a:r>
            <a:r>
              <a:rPr lang="en-US" sz="2300" dirty="0"/>
              <a:t>)</a:t>
            </a:r>
          </a:p>
          <a:p>
            <a:r>
              <a:rPr lang="en-US" sz="2300" dirty="0"/>
              <a:t>LeCun, Y., </a:t>
            </a:r>
            <a:r>
              <a:rPr lang="en-US" sz="2300" dirty="0" err="1"/>
              <a:t>Bottou</a:t>
            </a:r>
            <a:r>
              <a:rPr lang="en-US" sz="2300" dirty="0"/>
              <a:t>, L., Bengio, Y., &amp; Haffner, P. (1998). Gradient-based learning applied to document recognition. Proceedings of the IEEE, 86(11),</a:t>
            </a:r>
          </a:p>
          <a:p>
            <a:r>
              <a:rPr lang="en-US" sz="2300" dirty="0"/>
              <a:t>2278–2324.</a:t>
            </a:r>
          </a:p>
          <a:p>
            <a:r>
              <a:rPr lang="en-US" sz="2300" dirty="0">
                <a:hlinkClick r:id="rId3"/>
              </a:rPr>
              <a:t>https://www.google.com/search?q=https://ieeexplore.ieee.org/stamp/stamp.jsp%3Ftp%3D%26arnumber%3D726791</a:t>
            </a:r>
            <a:endParaRPr lang="en-US" sz="2300" dirty="0"/>
          </a:p>
          <a:p>
            <a:endParaRPr lang="en-US" sz="2300" dirty="0"/>
          </a:p>
          <a:p>
            <a:pPr marL="342900" indent="-342900">
              <a:buAutoNum type="arabicPeriod" startAt="3"/>
            </a:pPr>
            <a:r>
              <a:rPr lang="en-US" sz="2300" dirty="0" err="1"/>
              <a:t>Articol</a:t>
            </a:r>
            <a:r>
              <a:rPr lang="en-US" sz="2300" dirty="0"/>
              <a:t> </a:t>
            </a:r>
            <a:r>
              <a:rPr lang="en-US" sz="2300" dirty="0" err="1"/>
              <a:t>Recapitulativ</a:t>
            </a:r>
            <a:r>
              <a:rPr lang="en-US" sz="2300" dirty="0"/>
              <a:t> (</a:t>
            </a:r>
            <a:r>
              <a:rPr lang="en-US" sz="2300" dirty="0" err="1"/>
              <a:t>Viziunea</a:t>
            </a:r>
            <a:r>
              <a:rPr lang="en-US" sz="2300" dirty="0"/>
              <a:t> </a:t>
            </a:r>
            <a:r>
              <a:rPr lang="en-US" sz="2300" dirty="0" err="1"/>
              <a:t>Artificiala</a:t>
            </a:r>
            <a:r>
              <a:rPr lang="en-US" sz="2300" dirty="0"/>
              <a:t> </a:t>
            </a:r>
            <a:r>
              <a:rPr lang="en-US" sz="2300" dirty="0" err="1"/>
              <a:t>si</a:t>
            </a:r>
            <a:r>
              <a:rPr lang="en-US" sz="2300" dirty="0"/>
              <a:t> </a:t>
            </a:r>
            <a:r>
              <a:rPr lang="en-US" sz="2300" dirty="0" err="1"/>
              <a:t>Clasificarea</a:t>
            </a:r>
            <a:r>
              <a:rPr lang="en-US" sz="2300" dirty="0"/>
              <a:t> de Pattern-</a:t>
            </a:r>
            <a:r>
              <a:rPr lang="en-US" sz="2300" dirty="0" err="1"/>
              <a:t>uri</a:t>
            </a:r>
            <a:r>
              <a:rPr lang="en-US" sz="2300" dirty="0"/>
              <a:t>)</a:t>
            </a:r>
          </a:p>
          <a:p>
            <a:r>
              <a:rPr lang="en-US" sz="2300" dirty="0"/>
              <a:t>Jain, A. K., Duin, R. P. W., &amp; Mao, J. (2000). Statistical pattern recognition: A review. IEEE Transactions on Pattern Analysis and Machine Intelligence,</a:t>
            </a:r>
          </a:p>
          <a:p>
            <a:r>
              <a:rPr lang="en-US" sz="2300" dirty="0"/>
              <a:t>22(1), 4–37.</a:t>
            </a:r>
          </a:p>
          <a:p>
            <a:r>
              <a:rPr lang="en-US" sz="2300" dirty="0">
                <a:hlinkClick r:id="rId4"/>
              </a:rPr>
              <a:t>https://www.ee.columbia.edu/~dpwe/papers/JainDM00-statpr.pdf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0" y="1844675"/>
            <a:ext cx="20104100" cy="182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40" dirty="0"/>
              <a:t>Va </a:t>
            </a:r>
            <a:r>
              <a:rPr lang="en-US" spc="40" dirty="0" err="1"/>
              <a:t>multumesc</a:t>
            </a:r>
            <a:r>
              <a:rPr lang="en-US" spc="40" dirty="0"/>
              <a:t>!</a:t>
            </a:r>
            <a:endParaRPr spc="40" dirty="0"/>
          </a:p>
        </p:txBody>
      </p:sp>
      <p:sp>
        <p:nvSpPr>
          <p:cNvPr id="4" name="object 4"/>
          <p:cNvSpPr txBox="1"/>
          <p:nvPr/>
        </p:nvSpPr>
        <p:spPr>
          <a:xfrm>
            <a:off x="9259978" y="6168395"/>
            <a:ext cx="155130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950" spc="-45" dirty="0" err="1">
                <a:solidFill>
                  <a:srgbClr val="131313"/>
                </a:solidFill>
                <a:latin typeface="Arial"/>
                <a:cs typeface="Arial"/>
              </a:rPr>
              <a:t>I</a:t>
            </a:r>
            <a:r>
              <a:rPr sz="2950" spc="-45" dirty="0" err="1">
                <a:solidFill>
                  <a:srgbClr val="131313"/>
                </a:solidFill>
                <a:latin typeface="Arial"/>
                <a:cs typeface="Arial"/>
              </a:rPr>
              <a:t>ntreb</a:t>
            </a:r>
            <a:r>
              <a:rPr lang="en-US" sz="2950" spc="-45" dirty="0" err="1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sz="2950" spc="-45" dirty="0" err="1">
                <a:solidFill>
                  <a:srgbClr val="131313"/>
                </a:solidFill>
                <a:latin typeface="Arial"/>
                <a:cs typeface="Arial"/>
              </a:rPr>
              <a:t>ri</a:t>
            </a:r>
            <a:r>
              <a:rPr sz="2950" spc="-45" dirty="0">
                <a:solidFill>
                  <a:srgbClr val="131313"/>
                </a:solidFill>
                <a:latin typeface="Arial"/>
                <a:cs typeface="Arial"/>
              </a:rPr>
              <a:t>?</a:t>
            </a:r>
            <a:endParaRPr sz="2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1325</Words>
  <Application>Microsoft Office PowerPoint</Application>
  <PresentationFormat>Particularizare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1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Aplicatie de Recunoastere a</vt:lpstr>
      <vt:lpstr>1. Descrierea Nevoii: Obiectiv</vt:lpstr>
      <vt:lpstr>2. Domeniul Industrial de Interes (DII)</vt:lpstr>
      <vt:lpstr>3. Stadiul Actual si Beneficii</vt:lpstr>
      <vt:lpstr>Prezentare PowerPoint</vt:lpstr>
      <vt:lpstr>4. Arhitectura Sistemului</vt:lpstr>
      <vt:lpstr>5. Fluxul de Date (Simbol Individual)</vt:lpstr>
      <vt:lpstr>6. Fluxul de Date</vt:lpstr>
      <vt:lpstr>7. Integrare IoT și Monitorizare la Distanță (Web Service)</vt:lpstr>
      <vt:lpstr>8. Specificatii si Tehnologii</vt:lpstr>
      <vt:lpstr>9. Utilizatori si Roluri</vt:lpstr>
      <vt:lpstr>Bibliografie (Surse Relevante)</vt:lpstr>
      <vt:lpstr>Va multumesc!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George Lucian PERPELEA (140001)</cp:lastModifiedBy>
  <cp:revision>12</cp:revision>
  <dcterms:created xsi:type="dcterms:W3CDTF">2025-11-13T12:21:51Z</dcterms:created>
  <dcterms:modified xsi:type="dcterms:W3CDTF">2026-02-03T15:48:45Z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2025-11-13T00:00:00Z</vt:filetime>
  </property>
  <property fmtid="{D5CDD505-2E9C-101B-9397-08002B2CF9AE}" pid="3" name="DocumentID">
    <vt:lpwstr>5B94-7672-CD11-0000</vt:lpwstr>
  </property>
  <property fmtid="{D5CDD505-2E9C-101B-9397-08002B2CF9AE}" pid="4" name="LastSaved">
    <vt:filetime>2025-11-13T00:00:00Z</vt:filetime>
  </property>
  <property fmtid="{D5CDD505-2E9C-101B-9397-08002B2CF9AE}" pid="5" name="Owner">
    <vt:lpwstr>uciper@gmail.com</vt:lpwstr>
  </property>
  <property fmtid="{D5CDD505-2E9C-101B-9397-08002B2CF9AE}" pid="6" name="Producer">
    <vt:lpwstr>airSlate inc. Mellivora 3.4.4</vt:lpwstr>
  </property>
  <property fmtid="{D5CDD505-2E9C-101B-9397-08002B2CF9AE}" pid="7" name="reupload">
    <vt:lpwstr>ZvWWBldsr/kUwt6PQj0OER29CbfU8x23Sgg5O3mngRp4UPBojr1gZZSFauBTn0vQ9FXocHfTtib6yJjTABCn2H9tAVr2EGUQMgGeywRSXerAIEjL58eVBm2oqqexj5ccCcZhfyIRixKAkQnNbAmLzldz</vt:lpwstr>
  </property>
</Properties>
</file>